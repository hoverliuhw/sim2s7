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tags/tag5.xml" ContentType="application/vnd.openxmlformats-officedocument.presentationml.tags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tags/tag6.xml" ContentType="application/vnd.openxmlformats-officedocument.presentationml.tags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6.xml" ContentType="application/vnd.openxmlformats-officedocument.theme+xml"/>
  <Override PartName="/ppt/tags/tag7.xml" ContentType="application/vnd.openxmlformats-officedocument.presentationml.tags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7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slideLayouts/slideLayout29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7"/>
    <p:sldMasterId id="2147483712" r:id="rId8"/>
    <p:sldMasterId id="2147483673" r:id="rId9"/>
    <p:sldMasterId id="2147483676" r:id="rId10"/>
    <p:sldMasterId id="2147483678" r:id="rId11"/>
    <p:sldMasterId id="2147483680" r:id="rId12"/>
    <p:sldMasterId id="2147483738" r:id="rId13"/>
    <p:sldMasterId id="2147483770" r:id="rId14"/>
  </p:sldMasterIdLst>
  <p:notesMasterIdLst>
    <p:notesMasterId r:id="rId37"/>
  </p:notesMasterIdLst>
  <p:sldIdLst>
    <p:sldId id="141168595" r:id="rId15"/>
    <p:sldId id="141168596" r:id="rId16"/>
    <p:sldId id="141168597" r:id="rId17"/>
    <p:sldId id="141168598" r:id="rId18"/>
    <p:sldId id="141168615" r:id="rId19"/>
    <p:sldId id="141168600" r:id="rId20"/>
    <p:sldId id="141168613" r:id="rId21"/>
    <p:sldId id="141168620" r:id="rId22"/>
    <p:sldId id="141168601" r:id="rId23"/>
    <p:sldId id="141168602" r:id="rId24"/>
    <p:sldId id="141168612" r:id="rId25"/>
    <p:sldId id="141168619" r:id="rId26"/>
    <p:sldId id="141168618" r:id="rId27"/>
    <p:sldId id="141168608" r:id="rId28"/>
    <p:sldId id="141168621" r:id="rId29"/>
    <p:sldId id="141168622" r:id="rId30"/>
    <p:sldId id="141168609" r:id="rId31"/>
    <p:sldId id="141168611" r:id="rId32"/>
    <p:sldId id="141168610" r:id="rId33"/>
    <p:sldId id="141168624" r:id="rId34"/>
    <p:sldId id="141168625" r:id="rId35"/>
    <p:sldId id="265" r:id="rId36"/>
  </p:sldIdLst>
  <p:sldSz cx="9144000" cy="5143500" type="screen16x9"/>
  <p:notesSz cx="6858000" cy="9144000"/>
  <p:custDataLst>
    <p:tags r:id="rId3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ch, Martin (Nokia - FI/Espoo)" initials="BF" lastIdx="1" clrIdx="0">
    <p:extLst>
      <p:ext uri="{19B8F6BF-5375-455C-9EA6-DF929625EA0E}">
        <p15:presenceInfo xmlns:p15="http://schemas.microsoft.com/office/powerpoint/2012/main" userId="S::martin.bach@nokia.com::302fedb9-6cd9-4640-880b-c62ed76defb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A2AE"/>
    <a:srgbClr val="2F7554"/>
    <a:srgbClr val="00FF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4" autoAdjust="0"/>
    <p:restoredTop sz="89160" autoAdjust="0"/>
  </p:normalViewPr>
  <p:slideViewPr>
    <p:cSldViewPr snapToGrid="0">
      <p:cViewPr varScale="1">
        <p:scale>
          <a:sx n="92" d="100"/>
          <a:sy n="92" d="100"/>
        </p:scale>
        <p:origin x="7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08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7.xml"/><Relationship Id="rId18" Type="http://schemas.openxmlformats.org/officeDocument/2006/relationships/slide" Target="slides/slide4.xml"/><Relationship Id="rId26" Type="http://schemas.openxmlformats.org/officeDocument/2006/relationships/slide" Target="slides/slide12.xml"/><Relationship Id="rId39" Type="http://schemas.openxmlformats.org/officeDocument/2006/relationships/commentAuthors" Target="commentAuthors.xml"/><Relationship Id="rId21" Type="http://schemas.openxmlformats.org/officeDocument/2006/relationships/slide" Target="slides/slide7.xml"/><Relationship Id="rId34" Type="http://schemas.openxmlformats.org/officeDocument/2006/relationships/slide" Target="slides/slide20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2.xml"/><Relationship Id="rId20" Type="http://schemas.openxmlformats.org/officeDocument/2006/relationships/slide" Target="slides/slide6.xml"/><Relationship Id="rId29" Type="http://schemas.openxmlformats.org/officeDocument/2006/relationships/slide" Target="slides/slide1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Master" Target="slideMasters/slideMaster5.xml"/><Relationship Id="rId24" Type="http://schemas.openxmlformats.org/officeDocument/2006/relationships/slide" Target="slides/slide10.xml"/><Relationship Id="rId32" Type="http://schemas.openxmlformats.org/officeDocument/2006/relationships/slide" Target="slides/slide18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customXml" Target="../customXml/item5.xml"/><Relationship Id="rId15" Type="http://schemas.openxmlformats.org/officeDocument/2006/relationships/slide" Target="slides/slide1.xml"/><Relationship Id="rId23" Type="http://schemas.openxmlformats.org/officeDocument/2006/relationships/slide" Target="slides/slide9.xml"/><Relationship Id="rId28" Type="http://schemas.openxmlformats.org/officeDocument/2006/relationships/slide" Target="slides/slide14.xml"/><Relationship Id="rId36" Type="http://schemas.openxmlformats.org/officeDocument/2006/relationships/slide" Target="slides/slide22.xml"/><Relationship Id="rId10" Type="http://schemas.openxmlformats.org/officeDocument/2006/relationships/slideMaster" Target="slideMasters/slideMaster4.xml"/><Relationship Id="rId19" Type="http://schemas.openxmlformats.org/officeDocument/2006/relationships/slide" Target="slides/slide5.xml"/><Relationship Id="rId31" Type="http://schemas.openxmlformats.org/officeDocument/2006/relationships/slide" Target="slides/slide17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3.xml"/><Relationship Id="rId14" Type="http://schemas.openxmlformats.org/officeDocument/2006/relationships/slideMaster" Target="slideMasters/slideMaster8.xml"/><Relationship Id="rId22" Type="http://schemas.openxmlformats.org/officeDocument/2006/relationships/slide" Target="slides/slide8.xml"/><Relationship Id="rId27" Type="http://schemas.openxmlformats.org/officeDocument/2006/relationships/slide" Target="slides/slide13.xml"/><Relationship Id="rId30" Type="http://schemas.openxmlformats.org/officeDocument/2006/relationships/slide" Target="slides/slide16.xml"/><Relationship Id="rId35" Type="http://schemas.openxmlformats.org/officeDocument/2006/relationships/slide" Target="slides/slide21.xml"/><Relationship Id="rId43" Type="http://schemas.openxmlformats.org/officeDocument/2006/relationships/tableStyles" Target="tableStyles.xml"/><Relationship Id="rId8" Type="http://schemas.openxmlformats.org/officeDocument/2006/relationships/slideMaster" Target="slideMasters/slideMaster2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6.xml"/><Relationship Id="rId17" Type="http://schemas.openxmlformats.org/officeDocument/2006/relationships/slide" Target="slides/slide3.xml"/><Relationship Id="rId25" Type="http://schemas.openxmlformats.org/officeDocument/2006/relationships/slide" Target="slides/slide11.xml"/><Relationship Id="rId33" Type="http://schemas.openxmlformats.org/officeDocument/2006/relationships/slide" Target="slides/slide19.xml"/><Relationship Id="rId38" Type="http://schemas.openxmlformats.org/officeDocument/2006/relationships/tags" Target="tags/tag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03831C-DEBA-4A3A-8C36-FD8115E217DA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4EF5B-ECC8-43EE-A509-D601DDF42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180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9931" y="4861444"/>
            <a:ext cx="5679440" cy="4859664"/>
          </a:xfrm>
        </p:spPr>
        <p:txBody>
          <a:bodyPr/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C2616F-011D-47B3-A2C1-4E16F11993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7250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4EF5B-ECC8-43EE-A509-D601DDF42AD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439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4EF5B-ECC8-43EE-A509-D601DDF42AD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054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4EF5B-ECC8-43EE-A509-D601DDF42AD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477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4EF5B-ECC8-43EE-A509-D601DDF42AD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513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4EF5B-ECC8-43EE-A509-D601DDF42AD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3343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4EF5B-ECC8-43EE-A509-D601DDF42AD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112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543A0E-70E6-46DB-8F7C-06A0214599E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Nokia internal use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78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1D69DC-9F16-4CA4-A0E0-1872B8AD5D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i="1">
                <a:solidFill>
                  <a:srgbClr val="FF0000"/>
                </a:solidFill>
              </a:rPr>
              <a:t>Nokia internal use</a:t>
            </a:r>
            <a:endParaRPr lang="en-US">
              <a:solidFill>
                <a:srgbClr val="001135"/>
              </a:solidFill>
              <a:cs typeface="Arial" panose="020B0604020202020204" pitchFamily="34" charset="0"/>
            </a:endParaRP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9A4E175-66C0-4DDD-AA07-5D4B03CEA1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/>
              <a:t>Click to edit secondary headline</a:t>
            </a:r>
          </a:p>
        </p:txBody>
      </p: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F4102E0A-65A1-4E0C-ABCA-2CEBB8D5BF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</p:spTree>
    <p:extLst>
      <p:ext uri="{BB962C8B-B14F-4D97-AF65-F5344CB8AC3E}">
        <p14:creationId xmlns:p14="http://schemas.microsoft.com/office/powerpoint/2010/main" val="3652851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_Single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5DDEE8-FF3C-4742-BB8C-B09BB2526A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Nokia internal use</a:t>
            </a:r>
            <a:endParaRPr lang="en-US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B4B383DF-E841-4958-AC70-1FE077578D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/>
              <a:t>Click to edit secondary headline</a:t>
            </a:r>
          </a:p>
        </p:txBody>
      </p: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6D425CB6-0BAB-4AB6-ADCE-D68F0C1DF8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87D8427-6029-4956-BF93-C47F0DB879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7600" y="1080000"/>
            <a:ext cx="83088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5524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_Single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  <p:sp>
        <p:nvSpPr>
          <p:cNvPr id="6" name="Table Placeholder 2">
            <a:extLst>
              <a:ext uri="{FF2B5EF4-FFF2-40B4-BE49-F238E27FC236}">
                <a16:creationId xmlns:a16="http://schemas.microsoft.com/office/drawing/2014/main" id="{1CF4B30C-BC0A-4BED-8EEF-4DDEF7B9FAB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17600" y="1076400"/>
            <a:ext cx="8308800" cy="356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746ED1-96F6-4AE8-9D3A-0266CB4B738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Nokia internal use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415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5_Single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  <p:sp>
        <p:nvSpPr>
          <p:cNvPr id="7" name="SmartArt Placeholder 2">
            <a:extLst>
              <a:ext uri="{FF2B5EF4-FFF2-40B4-BE49-F238E27FC236}">
                <a16:creationId xmlns:a16="http://schemas.microsoft.com/office/drawing/2014/main" id="{9E969AE7-D418-4354-A166-2D9EC9AFFBD5}"/>
              </a:ext>
            </a:extLst>
          </p:cNvPr>
          <p:cNvSpPr>
            <a:spLocks noGrp="1"/>
          </p:cNvSpPr>
          <p:nvPr>
            <p:ph type="dgm" sz="quarter" idx="14"/>
          </p:nvPr>
        </p:nvSpPr>
        <p:spPr>
          <a:xfrm>
            <a:off x="417600" y="1076400"/>
            <a:ext cx="8308800" cy="356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SmartArt graphic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72D45-B478-45D6-BC5D-D958ACDFA9E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Nokia internal use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460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6_Two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48EFACD-CEB2-4692-815C-86D19FBB4A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1080000"/>
            <a:ext cx="40104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CBCB907-9E7B-4CB2-B9DE-4FC3076D2A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6000" y="1080000"/>
            <a:ext cx="40104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DFDF-6038-42CF-9F88-F60BDA6A7F2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Nokia internal use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147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_Two Column Mi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C469832-DACB-40B0-988E-5D708FA93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6000" y="1080000"/>
            <a:ext cx="40104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able Placeholder 4">
            <a:extLst>
              <a:ext uri="{FF2B5EF4-FFF2-40B4-BE49-F238E27FC236}">
                <a16:creationId xmlns:a16="http://schemas.microsoft.com/office/drawing/2014/main" id="{B3F0CABE-2F16-456A-A120-390FEDFE43A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17600" y="1080000"/>
            <a:ext cx="4010400" cy="3560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noProof="0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8BA92-8F61-4F9A-B36F-9769D72C71A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Nokia internal use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35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_Three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B478DF6-0668-488C-9E0C-4567E0DE8F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1080000"/>
            <a:ext cx="25920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EC091DE-89A6-4271-8BB9-BAB40C67B3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75856" y="1080000"/>
            <a:ext cx="25920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D1772D9-E08D-420E-AB34-CCAC26D77F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34400" y="1080000"/>
            <a:ext cx="25920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D23F99-89E3-4290-B5FE-D72F99F36EA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Nokia internal use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495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9_Three Column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D0874136-2C1C-4222-98DA-D238FBD9743F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417312" y="1080000"/>
            <a:ext cx="2592000" cy="3560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12" name="Table Placeholder 2">
            <a:extLst>
              <a:ext uri="{FF2B5EF4-FFF2-40B4-BE49-F238E27FC236}">
                <a16:creationId xmlns:a16="http://schemas.microsoft.com/office/drawing/2014/main" id="{B9EA6A3E-9087-42C1-89A6-8204E100E361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6132423" y="1080000"/>
            <a:ext cx="2592000" cy="3560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13" name="Table Placeholder 2">
            <a:extLst>
              <a:ext uri="{FF2B5EF4-FFF2-40B4-BE49-F238E27FC236}">
                <a16:creationId xmlns:a16="http://schemas.microsoft.com/office/drawing/2014/main" id="{98BD97D8-C9D8-4E9B-90F2-C010D6EE811E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273879" y="1080000"/>
            <a:ext cx="2592000" cy="3560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C81E09-B357-4439-BD31-02945978E3D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/>
              <a:t>Nokia internal use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790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0_Four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9C1B709-09CD-404B-B852-419096D068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1080000"/>
            <a:ext cx="18936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D9B7F28-94B8-42B4-A97D-4EBCB20F67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6000" y="1080000"/>
            <a:ext cx="18936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AB4DD6D-9400-4306-8B75-2CFF920828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94400" y="1080000"/>
            <a:ext cx="18936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D6FBD4C-557B-402F-9039-EF287BD8EA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2800" y="1080000"/>
            <a:ext cx="18936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EF9DDB-0B87-42B5-98DF-391316BABF9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Nokia internal use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931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_Whit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2">
            <a:extLst>
              <a:ext uri="{FF2B5EF4-FFF2-40B4-BE49-F238E27FC236}">
                <a16:creationId xmlns:a16="http://schemas.microsoft.com/office/drawing/2014/main" id="{A4F04206-BA94-4881-BA5F-F4855044D6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7200" y="900000"/>
            <a:ext cx="8359200" cy="19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6600" baseline="0">
                <a:solidFill>
                  <a:schemeClr val="tx1"/>
                </a:solidFill>
                <a:latin typeface="Nokia Pure Headline Ultra Light" panose="020B0204020202020204" pitchFamily="34" charset="0"/>
              </a:defRPr>
            </a:lvl1pPr>
          </a:lstStyle>
          <a:p>
            <a:pPr lvl="0"/>
            <a:r>
              <a:rPr lang="en-US"/>
              <a:t>Main headline in sentence case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395FE5-ACED-4CF9-93C7-742199141A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4502" y="3060000"/>
            <a:ext cx="8291898" cy="1576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5pPr>
            <a:lvl6pPr marL="1153800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6pPr>
            <a:lvl7pPr marL="13842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7pPr>
            <a:lvl8pPr marL="1614600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41332EC-6B80-4828-AE81-B63F414EEB6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304000" y="4816800"/>
            <a:ext cx="4536000" cy="12240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i="1">
                <a:solidFill>
                  <a:srgbClr val="FF0000"/>
                </a:solidFill>
              </a:rPr>
              <a:t>Nokia internal use</a:t>
            </a:r>
            <a:endParaRPr lang="en-US">
              <a:solidFill>
                <a:srgbClr val="001135"/>
              </a:solidFill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A079B4-2296-4AF6-9A4A-00A11E579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00" y="36000"/>
            <a:ext cx="1599250" cy="6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8732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9A4E175-66C0-4DDD-AA07-5D4B03CEA1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/>
              <a:t>Click to edit secondary headline</a:t>
            </a:r>
          </a:p>
        </p:txBody>
      </p: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F4102E0A-65A1-4E0C-ABCA-2CEBB8D5BF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  <p:sp>
        <p:nvSpPr>
          <p:cNvPr id="6" name="Footer Placeholder 14">
            <a:extLst>
              <a:ext uri="{FF2B5EF4-FFF2-40B4-BE49-F238E27FC236}">
                <a16:creationId xmlns:a16="http://schemas.microsoft.com/office/drawing/2014/main" id="{6D97FA8D-DB28-4843-953B-5FD4FD0536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64960" y="4840774"/>
            <a:ext cx="4536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</a:lstStyle>
          <a:p>
            <a:r>
              <a:rPr lang="en-GB"/>
              <a:t>Nokia internal use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7085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1_Blue 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2">
            <a:extLst>
              <a:ext uri="{FF2B5EF4-FFF2-40B4-BE49-F238E27FC236}">
                <a16:creationId xmlns:a16="http://schemas.microsoft.com/office/drawing/2014/main" id="{A4F04206-BA94-4881-BA5F-F4855044D6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7200" y="900000"/>
            <a:ext cx="8359200" cy="19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6600" baseline="0">
                <a:solidFill>
                  <a:schemeClr val="bg1"/>
                </a:solidFill>
                <a:latin typeface="Nokia Pure Headline Ultra Light" panose="020B0204020202020204" pitchFamily="34" charset="0"/>
              </a:defRPr>
            </a:lvl1pPr>
          </a:lstStyle>
          <a:p>
            <a:pPr lvl="0"/>
            <a:r>
              <a:rPr lang="en-US"/>
              <a:t>Main headline in sentence case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395FE5-ACED-4CF9-93C7-742199141A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3060000"/>
            <a:ext cx="8308800" cy="1576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5pPr>
            <a:lvl6pPr marL="1153800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6pPr>
            <a:lvl7pPr marL="13842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7pPr>
            <a:lvl8pPr marL="1614600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7354AD9-06FB-4C15-A48D-5001BBC6FF5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i="1">
                <a:solidFill>
                  <a:srgbClr val="FF0000"/>
                </a:solidFill>
                <a:latin typeface="Nokia Pure Text Light"/>
              </a:rPr>
              <a:t>Nokia internal use</a:t>
            </a:r>
            <a:endParaRPr lang="en-US">
              <a:solidFill>
                <a:srgbClr val="001135"/>
              </a:solidFill>
              <a:latin typeface="Nokia Pure Text Light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1DDC49-8DAE-42EA-847C-6ED7E3A1DD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88" y="34045"/>
            <a:ext cx="1589956" cy="66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186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2_Blue Text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201F9EFC-1397-476F-AC8D-B29C394E44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/>
              <a:t>Click to edit secondary headline</a:t>
            </a:r>
          </a:p>
        </p:txBody>
      </p:sp>
      <p:sp>
        <p:nvSpPr>
          <p:cNvPr id="12" name="Text Placeholder 42">
            <a:extLst>
              <a:ext uri="{FF2B5EF4-FFF2-40B4-BE49-F238E27FC236}">
                <a16:creationId xmlns:a16="http://schemas.microsoft.com/office/drawing/2014/main" id="{B5196263-821B-4B0A-B8F0-F314EF3ADF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/>
              <a:t>Click to edit headline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252EEB5-B067-4FF5-9D6E-45AD772491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1080000"/>
            <a:ext cx="83088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A9673B1-D3FB-43B2-8D91-D053CDDCAFB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i="1">
                <a:solidFill>
                  <a:srgbClr val="FF0000"/>
                </a:solidFill>
                <a:latin typeface="Nokia Pure Text Light"/>
              </a:rPr>
              <a:t>Nokia internal use</a:t>
            </a:r>
            <a:endParaRPr lang="en-US">
              <a:solidFill>
                <a:srgbClr val="001135"/>
              </a:solidFill>
              <a:latin typeface="Nokia Pure Text Light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9504A1-6308-446D-B073-C43CF250BB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5813" y="4648933"/>
            <a:ext cx="1009152" cy="4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6905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_Blue End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49010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1_White 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39167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1_Gray Text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201F9EFC-1397-476F-AC8D-B29C394E44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/>
              <a:t>Click to edit secondary headline</a:t>
            </a:r>
          </a:p>
        </p:txBody>
      </p:sp>
      <p:sp>
        <p:nvSpPr>
          <p:cNvPr id="12" name="Text Placeholder 42">
            <a:extLst>
              <a:ext uri="{FF2B5EF4-FFF2-40B4-BE49-F238E27FC236}">
                <a16:creationId xmlns:a16="http://schemas.microsoft.com/office/drawing/2014/main" id="{B5196263-821B-4B0A-B8F0-F314EF3ADF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/>
              <a:t>Click to edit headline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252EEB5-B067-4FF5-9D6E-45AD772491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1080000"/>
            <a:ext cx="83088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22E6FA3-ED47-4E0C-B044-550E170D1A0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i="1">
                <a:solidFill>
                  <a:srgbClr val="FF0000"/>
                </a:solidFill>
                <a:latin typeface="Nokia Pure Text Light"/>
              </a:rPr>
              <a:t>Nokia internal use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1496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2_Gray 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4E133-AF05-4EA9-B8C1-517DA46C9D2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Nokia internal use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4863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3_Gray Divi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2">
            <a:extLst>
              <a:ext uri="{FF2B5EF4-FFF2-40B4-BE49-F238E27FC236}">
                <a16:creationId xmlns:a16="http://schemas.microsoft.com/office/drawing/2014/main" id="{B5196263-821B-4B0A-B8F0-F314EF3ADF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799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400" baseline="0">
                <a:solidFill>
                  <a:schemeClr val="bg1"/>
                </a:solidFill>
                <a:latin typeface="Nokia Pure Headline Ultra Light" panose="020B0204020202020204" pitchFamily="34" charset="0"/>
              </a:defRPr>
            </a:lvl1pPr>
          </a:lstStyle>
          <a:p>
            <a:pPr lvl="0"/>
            <a:r>
              <a:rPr lang="en-US"/>
              <a:t>Click to edit headline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4E133-AF05-4EA9-B8C1-517DA46C9D2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i="1">
                <a:solidFill>
                  <a:srgbClr val="FF0000"/>
                </a:solidFill>
                <a:latin typeface="Nokia Pure Text Light"/>
              </a:rPr>
              <a:t>Nokia internal use</a:t>
            </a:r>
            <a:endParaRPr lang="en-US">
              <a:solidFill>
                <a:srgbClr val="001135"/>
              </a:solidFill>
              <a:latin typeface="Nokia Pure Text Ligh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475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kia Whit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48274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kia Whi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17598" y="1080000"/>
            <a:ext cx="83088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Font typeface="Arial" pitchFamily="34" charset="0"/>
              <a:buNone/>
              <a:defRPr sz="1400" baseline="0">
                <a:solidFill>
                  <a:schemeClr val="tx2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733533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kia Whi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18118" y="1080000"/>
            <a:ext cx="8308800" cy="35604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2"/>
                </a:solidFill>
              </a:defRPr>
            </a:lvl1pPr>
            <a:lvl2pPr marL="460789" algn="l">
              <a:defRPr sz="1400">
                <a:solidFill>
                  <a:schemeClr val="tx2"/>
                </a:solidFill>
              </a:defRPr>
            </a:lvl2pPr>
            <a:lvl3pPr marL="691183" indent="-230394" algn="l">
              <a:defRPr sz="1200">
                <a:solidFill>
                  <a:schemeClr val="tx2"/>
                </a:solidFill>
              </a:defRPr>
            </a:lvl3pPr>
            <a:lvl4pPr marL="921577" algn="l">
              <a:defRPr sz="1000">
                <a:solidFill>
                  <a:schemeClr val="tx2"/>
                </a:solidFill>
              </a:defRPr>
            </a:lvl4pPr>
            <a:lvl5pPr marL="1151972" algn="l">
              <a:defRPr sz="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723146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kia Whi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17600" y="1080000"/>
            <a:ext cx="40104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Font typeface="Arial" pitchFamily="34" charset="0"/>
              <a:buNone/>
              <a:defRPr sz="1400" baseline="0">
                <a:solidFill>
                  <a:schemeClr val="tx2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7"/>
          </p:nvPr>
        </p:nvSpPr>
        <p:spPr>
          <a:xfrm>
            <a:off x="4716000" y="1080000"/>
            <a:ext cx="40104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None/>
              <a:defRPr sz="1400" baseline="0">
                <a:solidFill>
                  <a:schemeClr val="tx2"/>
                </a:solidFill>
              </a:defRPr>
            </a:lvl1pPr>
            <a:lvl2pPr marL="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568101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kia Whi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sz="quarter" idx="15"/>
          </p:nvPr>
        </p:nvSpPr>
        <p:spPr>
          <a:xfrm>
            <a:off x="418119" y="1080000"/>
            <a:ext cx="40104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789">
              <a:defRPr sz="1400">
                <a:solidFill>
                  <a:schemeClr val="tx2"/>
                </a:solidFill>
              </a:defRPr>
            </a:lvl2pPr>
            <a:lvl3pPr marL="691183" indent="-230394">
              <a:defRPr sz="1200">
                <a:solidFill>
                  <a:schemeClr val="tx2"/>
                </a:solidFill>
              </a:defRPr>
            </a:lvl3pPr>
            <a:lvl4pPr marL="921577">
              <a:defRPr sz="1000">
                <a:solidFill>
                  <a:schemeClr val="tx2"/>
                </a:solidFill>
              </a:defRPr>
            </a:lvl4pPr>
            <a:lvl5pPr marL="1151972">
              <a:defRPr sz="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9"/>
          </p:nvPr>
        </p:nvSpPr>
        <p:spPr>
          <a:xfrm>
            <a:off x="4716000" y="1080000"/>
            <a:ext cx="40104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789">
              <a:defRPr sz="1400"/>
            </a:lvl2pPr>
            <a:lvl3pPr marL="691183" indent="-230394">
              <a:defRPr sz="1200"/>
            </a:lvl3pPr>
            <a:lvl4pPr marL="921577">
              <a:defRPr sz="1000"/>
            </a:lvl4pPr>
            <a:lvl5pPr marL="1151972"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763686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kia Whi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17600" y="1080000"/>
            <a:ext cx="25920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Font typeface="Arial" pitchFamily="34" charset="0"/>
              <a:buNone/>
              <a:defRPr sz="1400" baseline="0">
                <a:solidFill>
                  <a:schemeClr val="tx2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7"/>
          </p:nvPr>
        </p:nvSpPr>
        <p:spPr>
          <a:xfrm>
            <a:off x="6120000" y="1080000"/>
            <a:ext cx="25920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None/>
              <a:defRPr sz="1400" baseline="0">
                <a:solidFill>
                  <a:schemeClr val="tx2"/>
                </a:solidFill>
              </a:defRPr>
            </a:lvl1pPr>
            <a:lvl2pPr marL="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9"/>
          </p:nvPr>
        </p:nvSpPr>
        <p:spPr>
          <a:xfrm>
            <a:off x="3261600" y="1080000"/>
            <a:ext cx="25920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Font typeface="Arial" pitchFamily="34" charset="0"/>
              <a:buNone/>
              <a:defRPr sz="1400" baseline="0">
                <a:solidFill>
                  <a:schemeClr val="tx2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884935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kia Whi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sz="quarter" idx="15"/>
          </p:nvPr>
        </p:nvSpPr>
        <p:spPr>
          <a:xfrm>
            <a:off x="418119" y="1080000"/>
            <a:ext cx="25920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789">
              <a:defRPr sz="1400"/>
            </a:lvl2pPr>
            <a:lvl3pPr marL="691183" indent="-230394">
              <a:defRPr sz="1200"/>
            </a:lvl3pPr>
            <a:lvl4pPr marL="921577">
              <a:defRPr sz="1000"/>
            </a:lvl4pPr>
            <a:lvl5pPr marL="1151972"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9"/>
          </p:nvPr>
        </p:nvSpPr>
        <p:spPr>
          <a:xfrm>
            <a:off x="3261600" y="1080000"/>
            <a:ext cx="25920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789">
              <a:defRPr sz="1400"/>
            </a:lvl2pPr>
            <a:lvl3pPr marL="691183" indent="-230394">
              <a:defRPr sz="1200"/>
            </a:lvl3pPr>
            <a:lvl4pPr marL="921577">
              <a:defRPr sz="1000"/>
            </a:lvl4pPr>
            <a:lvl5pPr marL="1151972"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20"/>
          </p:nvPr>
        </p:nvSpPr>
        <p:spPr>
          <a:xfrm>
            <a:off x="6120000" y="1080000"/>
            <a:ext cx="25920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789">
              <a:defRPr sz="1400"/>
            </a:lvl2pPr>
            <a:lvl3pPr marL="691183" indent="-230394">
              <a:defRPr sz="1200"/>
            </a:lvl3pPr>
            <a:lvl4pPr marL="921577">
              <a:defRPr sz="1000"/>
            </a:lvl4pPr>
            <a:lvl5pPr marL="1151972"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9432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kia Whi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17600" y="1080000"/>
            <a:ext cx="18936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Font typeface="Arial" pitchFamily="34" charset="0"/>
              <a:buNone/>
              <a:defRPr sz="1400" baseline="0">
                <a:solidFill>
                  <a:schemeClr val="tx2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7"/>
          </p:nvPr>
        </p:nvSpPr>
        <p:spPr>
          <a:xfrm>
            <a:off x="4694400" y="1080000"/>
            <a:ext cx="18936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None/>
              <a:defRPr sz="1400" baseline="0">
                <a:solidFill>
                  <a:schemeClr val="tx2"/>
                </a:solidFill>
              </a:defRPr>
            </a:lvl1pPr>
            <a:lvl2pPr marL="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9"/>
          </p:nvPr>
        </p:nvSpPr>
        <p:spPr>
          <a:xfrm>
            <a:off x="2556000" y="1080000"/>
            <a:ext cx="18936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Font typeface="Arial" pitchFamily="34" charset="0"/>
              <a:buNone/>
              <a:defRPr sz="1400" baseline="0">
                <a:solidFill>
                  <a:schemeClr val="tx2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0"/>
          </p:nvPr>
        </p:nvSpPr>
        <p:spPr>
          <a:xfrm>
            <a:off x="6832800" y="1080000"/>
            <a:ext cx="18936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None/>
              <a:defRPr sz="1400" baseline="0">
                <a:solidFill>
                  <a:schemeClr val="tx2"/>
                </a:solidFill>
              </a:defRPr>
            </a:lvl1pPr>
            <a:lvl2pPr marL="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38801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kia Whi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sz="quarter" idx="15"/>
          </p:nvPr>
        </p:nvSpPr>
        <p:spPr>
          <a:xfrm>
            <a:off x="418119" y="1080000"/>
            <a:ext cx="18936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789">
              <a:defRPr sz="1400">
                <a:solidFill>
                  <a:schemeClr val="tx2"/>
                </a:solidFill>
              </a:defRPr>
            </a:lvl2pPr>
            <a:lvl3pPr marL="691183" indent="-230394">
              <a:defRPr sz="1200">
                <a:solidFill>
                  <a:schemeClr val="tx2"/>
                </a:solidFill>
              </a:defRPr>
            </a:lvl3pPr>
            <a:lvl4pPr marL="921577">
              <a:defRPr sz="1000">
                <a:solidFill>
                  <a:schemeClr val="tx2"/>
                </a:solidFill>
              </a:defRPr>
            </a:lvl4pPr>
            <a:lvl5pPr marL="1151972">
              <a:defRPr sz="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9"/>
          </p:nvPr>
        </p:nvSpPr>
        <p:spPr>
          <a:xfrm>
            <a:off x="2556000" y="1080000"/>
            <a:ext cx="18936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789">
              <a:defRPr sz="1400">
                <a:solidFill>
                  <a:schemeClr val="tx2"/>
                </a:solidFill>
              </a:defRPr>
            </a:lvl2pPr>
            <a:lvl3pPr marL="691183" indent="-230394">
              <a:defRPr sz="1200">
                <a:solidFill>
                  <a:schemeClr val="tx2"/>
                </a:solidFill>
              </a:defRPr>
            </a:lvl3pPr>
            <a:lvl4pPr marL="921577">
              <a:defRPr sz="1000">
                <a:solidFill>
                  <a:schemeClr val="tx2"/>
                </a:solidFill>
              </a:defRPr>
            </a:lvl4pPr>
            <a:lvl5pPr marL="1151972">
              <a:defRPr sz="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20"/>
          </p:nvPr>
        </p:nvSpPr>
        <p:spPr>
          <a:xfrm>
            <a:off x="4694400" y="1080000"/>
            <a:ext cx="18936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789">
              <a:defRPr sz="1400">
                <a:solidFill>
                  <a:schemeClr val="tx2"/>
                </a:solidFill>
              </a:defRPr>
            </a:lvl2pPr>
            <a:lvl3pPr marL="691183" indent="-230394">
              <a:defRPr sz="1200">
                <a:solidFill>
                  <a:schemeClr val="tx2"/>
                </a:solidFill>
              </a:defRPr>
            </a:lvl3pPr>
            <a:lvl4pPr marL="921577">
              <a:defRPr sz="1000">
                <a:solidFill>
                  <a:schemeClr val="tx2"/>
                </a:solidFill>
              </a:defRPr>
            </a:lvl4pPr>
            <a:lvl5pPr marL="1151972">
              <a:defRPr sz="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quarter" idx="21"/>
          </p:nvPr>
        </p:nvSpPr>
        <p:spPr>
          <a:xfrm>
            <a:off x="6832800" y="1080000"/>
            <a:ext cx="18936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789">
              <a:defRPr sz="1400">
                <a:solidFill>
                  <a:schemeClr val="tx2"/>
                </a:solidFill>
              </a:defRPr>
            </a:lvl2pPr>
            <a:lvl3pPr marL="691183" indent="-230394">
              <a:defRPr sz="1200">
                <a:solidFill>
                  <a:schemeClr val="tx2"/>
                </a:solidFill>
              </a:defRPr>
            </a:lvl3pPr>
            <a:lvl4pPr marL="921577">
              <a:defRPr sz="1000">
                <a:solidFill>
                  <a:schemeClr val="tx2"/>
                </a:solidFill>
              </a:defRPr>
            </a:lvl4pPr>
            <a:lvl5pPr marL="1151972">
              <a:defRPr sz="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4268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5.1 Colored backgrou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8177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oleObject" Target="../embeddings/oleObject2.bin"/><Relationship Id="rId5" Type="http://schemas.openxmlformats.org/officeDocument/2006/relationships/tags" Target="../tags/tag3.xml"/><Relationship Id="rId4" Type="http://schemas.openxmlformats.org/officeDocument/2006/relationships/vmlDrawing" Target="../drawings/vmlDrawing2.v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3.bin"/><Relationship Id="rId5" Type="http://schemas.openxmlformats.org/officeDocument/2006/relationships/tags" Target="../tags/tag4.xml"/><Relationship Id="rId4" Type="http://schemas.openxmlformats.org/officeDocument/2006/relationships/vmlDrawing" Target="../drawings/vmlDrawing3.v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4.vml"/><Relationship Id="rId7" Type="http://schemas.openxmlformats.org/officeDocument/2006/relationships/image" Target="../media/image4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.bin"/><Relationship Id="rId4" Type="http://schemas.openxmlformats.org/officeDocument/2006/relationships/tags" Target="../tags/tag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5.vml"/><Relationship Id="rId7" Type="http://schemas.openxmlformats.org/officeDocument/2006/relationships/image" Target="../media/image3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5.bin"/><Relationship Id="rId4" Type="http://schemas.openxmlformats.org/officeDocument/2006/relationships/tags" Target="../tags/tag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19.xml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ags" Target="../tags/tag7.xml"/><Relationship Id="rId5" Type="http://schemas.openxmlformats.org/officeDocument/2006/relationships/vmlDrawing" Target="../drawings/vmlDrawing6.vml"/><Relationship Id="rId4" Type="http://schemas.openxmlformats.org/officeDocument/2006/relationships/theme" Target="../theme/theme6.xml"/><Relationship Id="rId9" Type="http://schemas.openxmlformats.org/officeDocument/2006/relationships/image" Target="../media/image5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tags" Target="../tags/tag9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ags" Target="../tags/tag8.xml"/><Relationship Id="rId2" Type="http://schemas.openxmlformats.org/officeDocument/2006/relationships/slideLayout" Target="../slideLayouts/slideLayout21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vmlDrawing" Target="../drawings/vmlDrawing7.vml"/><Relationship Id="rId5" Type="http://schemas.openxmlformats.org/officeDocument/2006/relationships/slideLayout" Target="../slideLayouts/slideLayout24.xml"/><Relationship Id="rId15" Type="http://schemas.openxmlformats.org/officeDocument/2006/relationships/image" Target="../media/image1.emf"/><Relationship Id="rId10" Type="http://schemas.openxmlformats.org/officeDocument/2006/relationships/theme" Target="../theme/theme7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oleObject" Target="../embeddings/oleObject7.bin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B522423-334D-430E-8624-DBE3A6D9CAF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9738811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" name="think-cell Slide" r:id="rId14" imgW="530" imgH="531" progId="TCLayout.ActiveDocument.1">
                  <p:embed/>
                </p:oleObj>
              </mc:Choice>
              <mc:Fallback>
                <p:oleObj name="think-cell Slide" r:id="rId14" imgW="530" imgH="53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B522423-334D-430E-8624-DBE3A6D9CA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7D0E1A0-C19A-4DB8-BA1F-3D71830D1A93}"/>
              </a:ext>
            </a:extLst>
          </p:cNvPr>
          <p:cNvSpPr txBox="1"/>
          <p:nvPr userDrawn="1"/>
        </p:nvSpPr>
        <p:spPr>
          <a:xfrm>
            <a:off x="755776" y="4816800"/>
            <a:ext cx="1800000" cy="1222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en-US" sz="8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2020 Nokia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920C8E0-2BA3-45B9-8A9F-1B9E59157439}"/>
              </a:ext>
            </a:extLst>
          </p:cNvPr>
          <p:cNvSpPr txBox="1">
            <a:spLocks/>
          </p:cNvSpPr>
          <p:nvPr userDrawn="1"/>
        </p:nvSpPr>
        <p:spPr>
          <a:xfrm>
            <a:off x="419102" y="4816800"/>
            <a:ext cx="252000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141D57DB-1EB7-4DFA-9100-436A54579F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4000" y="4816800"/>
            <a:ext cx="4536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 i="1">
                <a:solidFill>
                  <a:srgbClr val="FF0000"/>
                </a:solidFill>
              </a:rPr>
              <a:t>Nokia internal use</a:t>
            </a:r>
            <a:endParaRPr lang="en-US">
              <a:solidFill>
                <a:srgbClr val="001135"/>
              </a:solidFill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C5FB64-385A-4093-B8B2-2F00FF978275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226" y="4651000"/>
            <a:ext cx="1008112" cy="42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891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85" r:id="rId2"/>
    <p:sldLayoutId id="2147483686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3739BBC-B53C-4D6B-ABC3-D222C4AE2F2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4974052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" name="think-cell Slide" r:id="rId6" imgW="530" imgH="531" progId="TCLayout.ActiveDocument.1">
                  <p:embed/>
                </p:oleObj>
              </mc:Choice>
              <mc:Fallback>
                <p:oleObj name="think-cell Slide" r:id="rId6" imgW="530" imgH="53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3739BBC-B53C-4D6B-ABC3-D222C4AE2F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AC1947E-906A-46AD-9413-1921F00F19AB}"/>
              </a:ext>
            </a:extLst>
          </p:cNvPr>
          <p:cNvSpPr txBox="1"/>
          <p:nvPr userDrawn="1"/>
        </p:nvSpPr>
        <p:spPr>
          <a:xfrm>
            <a:off x="755776" y="4816800"/>
            <a:ext cx="1800000" cy="1222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en-US" sz="8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2019 Nokia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A0CA059-29E1-450A-A218-D27AB73F8070}"/>
              </a:ext>
            </a:extLst>
          </p:cNvPr>
          <p:cNvSpPr txBox="1">
            <a:spLocks/>
          </p:cNvSpPr>
          <p:nvPr userDrawn="1"/>
        </p:nvSpPr>
        <p:spPr>
          <a:xfrm>
            <a:off x="419102" y="4816800"/>
            <a:ext cx="252000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0" name="Footer Placeholder 14">
            <a:extLst>
              <a:ext uri="{FF2B5EF4-FFF2-40B4-BE49-F238E27FC236}">
                <a16:creationId xmlns:a16="http://schemas.microsoft.com/office/drawing/2014/main" id="{80DAFA2C-A5B7-47BD-9867-3032BEE12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4000" y="4816800"/>
            <a:ext cx="4536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Nokia internal use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873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6" r:id="rId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5A7F4BD-7D1A-4BC3-B1A2-4E3F8E54FF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8396627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8" name="think-cell Slide" r:id="rId6" imgW="530" imgH="531" progId="TCLayout.ActiveDocument.1">
                  <p:embed/>
                </p:oleObj>
              </mc:Choice>
              <mc:Fallback>
                <p:oleObj name="think-cell Slide" r:id="rId6" imgW="530" imgH="53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5A7F4BD-7D1A-4BC3-B1A2-4E3F8E54FF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35D8FD1-98D9-47C9-885D-370F1B25E0D7}"/>
              </a:ext>
            </a:extLst>
          </p:cNvPr>
          <p:cNvSpPr txBox="1"/>
          <p:nvPr userDrawn="1"/>
        </p:nvSpPr>
        <p:spPr>
          <a:xfrm>
            <a:off x="755776" y="4816800"/>
            <a:ext cx="1800000" cy="1222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en-US" sz="800" noProof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2020 Nokia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D45D477-1173-4B46-833F-F999BFE93809}"/>
              </a:ext>
            </a:extLst>
          </p:cNvPr>
          <p:cNvSpPr txBox="1">
            <a:spLocks/>
          </p:cNvSpPr>
          <p:nvPr userDrawn="1"/>
        </p:nvSpPr>
        <p:spPr>
          <a:xfrm>
            <a:off x="419102" y="4816800"/>
            <a:ext cx="252000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9EA08E70-E40A-4C76-ADD7-CA63C95746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4000" y="4816800"/>
            <a:ext cx="4536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</a:lstStyle>
          <a:p>
            <a:r>
              <a:rPr lang="en-US" i="1">
                <a:solidFill>
                  <a:srgbClr val="FF0000"/>
                </a:solidFill>
                <a:latin typeface="Nokia Pure Text Light"/>
              </a:rPr>
              <a:t>Nokia internal use</a:t>
            </a:r>
            <a:endParaRPr lang="en-US">
              <a:solidFill>
                <a:srgbClr val="001135"/>
              </a:solidFill>
              <a:latin typeface="Nokia Pure Text Ligh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352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6E71F6F-8AB6-4B44-B611-2F138EB8D22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7840972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2" name="think-cell Slide" r:id="rId5" imgW="530" imgH="531" progId="TCLayout.ActiveDocument.1">
                  <p:embed/>
                </p:oleObj>
              </mc:Choice>
              <mc:Fallback>
                <p:oleObj name="think-cell Slide" r:id="rId5" imgW="530" imgH="53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6E71F6F-8AB6-4B44-B611-2F138EB8D2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C76398D-C6B9-4EAD-A887-41ECEA7F301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180" y="2031750"/>
            <a:ext cx="2565641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516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FBBE3F7A-29C6-4F68-990E-2A7E7FC2AE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6017867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6" name="think-cell Slide" r:id="rId5" imgW="530" imgH="531" progId="TCLayout.ActiveDocument.1">
                  <p:embed/>
                </p:oleObj>
              </mc:Choice>
              <mc:Fallback>
                <p:oleObj name="think-cell Slide" r:id="rId5" imgW="530" imgH="53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FBBE3F7A-29C6-4F68-990E-2A7E7FC2AE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DBC1C3A2-73EF-4E4E-97C2-1C446243E83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180" y="2031750"/>
            <a:ext cx="2565641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388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810BE74F-387C-4A88-8AFC-B6EFE111D9D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9170780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0" name="think-cell Slide" r:id="rId7" imgW="530" imgH="531" progId="TCLayout.ActiveDocument.1">
                  <p:embed/>
                </p:oleObj>
              </mc:Choice>
              <mc:Fallback>
                <p:oleObj name="think-cell Slide" r:id="rId7" imgW="530" imgH="53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810BE74F-387C-4A88-8AFC-B6EFE111D9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35D8FD1-98D9-47C9-885D-370F1B25E0D7}"/>
              </a:ext>
            </a:extLst>
          </p:cNvPr>
          <p:cNvSpPr txBox="1"/>
          <p:nvPr userDrawn="1"/>
        </p:nvSpPr>
        <p:spPr>
          <a:xfrm>
            <a:off x="755776" y="4816800"/>
            <a:ext cx="1800000" cy="1222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en-US" sz="800" noProof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2019 Nokia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D45D477-1173-4B46-833F-F999BFE93809}"/>
              </a:ext>
            </a:extLst>
          </p:cNvPr>
          <p:cNvSpPr txBox="1">
            <a:spLocks/>
          </p:cNvSpPr>
          <p:nvPr userDrawn="1"/>
        </p:nvSpPr>
        <p:spPr>
          <a:xfrm>
            <a:off x="419102" y="4816800"/>
            <a:ext cx="252000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E74C75-1C44-4A6F-9F21-72B5E3ACCB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4000" y="4816800"/>
            <a:ext cx="4536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</a:lstStyle>
          <a:p>
            <a:r>
              <a:rPr lang="en-US" i="1">
                <a:solidFill>
                  <a:srgbClr val="FF0000"/>
                </a:solidFill>
                <a:latin typeface="Nokia Pure Text Light"/>
              </a:rPr>
              <a:t>Nokia internal use</a:t>
            </a:r>
            <a:endParaRPr lang="en-US">
              <a:solidFill>
                <a:srgbClr val="001135"/>
              </a:solidFill>
              <a:latin typeface="Nokia Pure Text Light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38F1B2-3B70-46D3-B6FC-0199A17FB72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5813" y="4648933"/>
            <a:ext cx="1009152" cy="4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286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FFA4D274-DBCA-4212-AFC1-8DD7CBF9B52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3223895393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" name="think-cell Slide" r:id="rId14" imgW="530" imgH="531" progId="TCLayout.ActiveDocument.1">
                  <p:embed/>
                </p:oleObj>
              </mc:Choice>
              <mc:Fallback>
                <p:oleObj name="think-cell Slide" r:id="rId14" imgW="530" imgH="53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FFA4D274-DBCA-4212-AFC1-8DD7CBF9B5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FEACE1D0-264A-40CB-8E4A-C85ADFAA7BD2}"/>
              </a:ext>
            </a:extLst>
          </p:cNvPr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 fontAlgn="auto">
              <a:spcBef>
                <a:spcPts val="0"/>
              </a:spcBef>
              <a:spcAft>
                <a:spcPts val="0"/>
              </a:spcAft>
            </a:pPr>
            <a:endParaRPr lang="en-US" sz="2000" b="0" i="0" baseline="0" err="1">
              <a:solidFill>
                <a:schemeClr val="bg1"/>
              </a:solidFill>
              <a:latin typeface="Nokia Pure Headline Light"/>
              <a:cs typeface="Arial" panose="020B0604020202020204" pitchFamily="34" charset="0"/>
              <a:sym typeface="Nokia Pure Headline Light"/>
            </a:endParaRPr>
          </a:p>
        </p:txBody>
      </p:sp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17514" y="280989"/>
            <a:ext cx="8308975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7" name="Slide Number Placeholder 5"/>
          <p:cNvSpPr txBox="1">
            <a:spLocks/>
          </p:cNvSpPr>
          <p:nvPr/>
        </p:nvSpPr>
        <p:spPr>
          <a:xfrm>
            <a:off x="419101" y="4815603"/>
            <a:ext cx="144463" cy="123111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/>
                <a:cs typeface="ヒラギノ角ゴ Pro W3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/>
                <a:cs typeface="ヒラギノ角ゴ Pro W3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/>
                <a:cs typeface="ヒラギノ角ゴ Pro W3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/>
                <a:cs typeface="ヒラギノ角ゴ Pro W3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/>
                <a:cs typeface="ヒラギノ角ゴ Pro W3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DEDEB2F-D2D9-44F1-8E7A-1F124C4FE797}" type="slidenum">
              <a:rPr lang="en-GB" altLang="en-US" sz="800" smtClean="0">
                <a:solidFill>
                  <a:srgbClr val="001135"/>
                </a:solidFill>
                <a:latin typeface="Nokia Pure Text Light" panose="020B0304040602060303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 altLang="en-US" sz="1000">
              <a:solidFill>
                <a:srgbClr val="001135"/>
              </a:solidFill>
              <a:latin typeface="Nokia Pure Text Light" panose="020B0304040602060303" pitchFamily="34" charset="0"/>
              <a:cs typeface="Arial" panose="020B0604020202020204" pitchFamily="34" charset="0"/>
            </a:endParaRPr>
          </a:p>
        </p:txBody>
      </p:sp>
      <p:sp>
        <p:nvSpPr>
          <p:cNvPr id="1028" name="TextBox 37"/>
          <p:cNvSpPr txBox="1">
            <a:spLocks noChangeArrowheads="1"/>
          </p:cNvSpPr>
          <p:nvPr/>
        </p:nvSpPr>
        <p:spPr bwMode="auto">
          <a:xfrm>
            <a:off x="657226" y="4815603"/>
            <a:ext cx="1800225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800">
                <a:solidFill>
                  <a:srgbClr val="001135"/>
                </a:solidFill>
                <a:cs typeface="Arial" pitchFamily="34" charset="0"/>
              </a:rPr>
              <a:t>© Nokia 2020</a:t>
            </a:r>
          </a:p>
        </p:txBody>
      </p:sp>
      <p:pic>
        <p:nvPicPr>
          <p:cNvPr id="1030" name="Picture 2"/>
          <p:cNvPicPr>
            <a:picLocks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926" y="4805364"/>
            <a:ext cx="690563" cy="11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BEFAF36-8B27-4DBE-B7CF-E7996F070DA8}"/>
              </a:ext>
            </a:extLst>
          </p:cNvPr>
          <p:cNvSpPr/>
          <p:nvPr userDrawn="1"/>
        </p:nvSpPr>
        <p:spPr>
          <a:xfrm>
            <a:off x="522130" y="4688594"/>
            <a:ext cx="75552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77516" lvl="1" indent="0">
              <a:buNone/>
            </a:pPr>
            <a:r>
              <a:rPr lang="en-US" sz="900" i="0">
                <a:solidFill>
                  <a:schemeClr val="tx1">
                    <a:lumMod val="75000"/>
                  </a:schemeClr>
                </a:solidFill>
              </a:rPr>
              <a:t>This document contains preliminary options which are subject to appropriate information and/or consultation of the relevant employee representative body/</a:t>
            </a:r>
            <a:r>
              <a:rPr lang="en-US" sz="900" i="0" err="1">
                <a:solidFill>
                  <a:schemeClr val="tx1">
                    <a:lumMod val="75000"/>
                  </a:schemeClr>
                </a:solidFill>
              </a:rPr>
              <a:t>ies</a:t>
            </a:r>
            <a:r>
              <a:rPr lang="en-US" sz="900" i="0">
                <a:solidFill>
                  <a:schemeClr val="tx1">
                    <a:lumMod val="75000"/>
                  </a:schemeClr>
                </a:solidFill>
              </a:rPr>
              <a:t> where applicable and subject to necessary legal procedures and approvals.</a:t>
            </a:r>
            <a:endParaRPr lang="fi-FI" sz="900" i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9264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</p:sldLayoutIdLst>
  <p:hf sldNum="0" hdr="0" ftr="0" dt="0"/>
  <p:txStyles>
    <p:titleStyle>
      <a:lvl1pPr algn="l" defTabSz="457189" rtl="0" eaLnBrk="0" fontAlgn="base" hangingPunct="0">
        <a:spcBef>
          <a:spcPct val="0"/>
        </a:spcBef>
        <a:spcAft>
          <a:spcPct val="0"/>
        </a:spcAft>
        <a:defRPr sz="2000" kern="1200">
          <a:solidFill>
            <a:schemeClr val="tx1"/>
          </a:solidFill>
          <a:latin typeface="+mj-lt"/>
          <a:ea typeface="Nokia Pure Headline Ultra Light" panose="020B0204020202020204" pitchFamily="34" charset="0"/>
          <a:cs typeface="Arial"/>
        </a:defRPr>
      </a:lvl1pPr>
      <a:lvl2pPr algn="l" defTabSz="457189" rtl="0" eaLnBrk="0" fontAlgn="base" hangingPunct="0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Nokia Pure Headline Light" pitchFamily="34" charset="0"/>
          <a:ea typeface="Nokia Pure Headline Ultra Light" pitchFamily="34" charset="0"/>
          <a:cs typeface="Arial" pitchFamily="34" charset="0"/>
        </a:defRPr>
      </a:lvl2pPr>
      <a:lvl3pPr algn="l" defTabSz="457189" rtl="0" eaLnBrk="0" fontAlgn="base" hangingPunct="0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Nokia Pure Headline Light" pitchFamily="34" charset="0"/>
          <a:ea typeface="Nokia Pure Headline Ultra Light" pitchFamily="34" charset="0"/>
          <a:cs typeface="Arial" pitchFamily="34" charset="0"/>
        </a:defRPr>
      </a:lvl3pPr>
      <a:lvl4pPr algn="l" defTabSz="457189" rtl="0" eaLnBrk="0" fontAlgn="base" hangingPunct="0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Nokia Pure Headline Light" pitchFamily="34" charset="0"/>
          <a:ea typeface="Nokia Pure Headline Ultra Light" pitchFamily="34" charset="0"/>
          <a:cs typeface="Arial" pitchFamily="34" charset="0"/>
        </a:defRPr>
      </a:lvl4pPr>
      <a:lvl5pPr algn="l" defTabSz="457189" rtl="0" eaLnBrk="0" fontAlgn="base" hangingPunct="0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Nokia Pure Headline Light" pitchFamily="34" charset="0"/>
          <a:ea typeface="Nokia Pure Headline Ultra Light" pitchFamily="34" charset="0"/>
          <a:cs typeface="Arial" pitchFamily="34" charset="0"/>
        </a:defRPr>
      </a:lvl5pPr>
      <a:lvl6pPr marL="457189" algn="l" defTabSz="457189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6pPr>
      <a:lvl7pPr marL="914378" algn="l" defTabSz="457189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7pPr>
      <a:lvl8pPr marL="1371566" algn="l" defTabSz="457189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8pPr>
      <a:lvl9pPr marL="1828754" algn="l" defTabSz="457189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9pPr>
    </p:titleStyle>
    <p:bodyStyle>
      <a:lvl1pPr marL="230183" indent="-230183" algn="l" defTabSz="457189" rtl="0" eaLnBrk="0" fontAlgn="base" hangingPunct="0">
        <a:spcBef>
          <a:spcPct val="0"/>
        </a:spcBef>
        <a:spcAft>
          <a:spcPts val="600"/>
        </a:spcAft>
        <a:buFont typeface="Arial" panose="020B0604020202020204" pitchFamily="34" charset="0"/>
        <a:buChar char="•"/>
        <a:defRPr sz="3200" kern="1200">
          <a:solidFill>
            <a:schemeClr val="tx2"/>
          </a:solidFill>
          <a:latin typeface="+mn-lt"/>
          <a:ea typeface="ヒラギノ角ゴ Pro W3" charset="0"/>
          <a:cs typeface="ヒラギノ角ゴ Pro W3" charset="0"/>
        </a:defRPr>
      </a:lvl1pPr>
      <a:lvl2pPr marL="458777" indent="-228594" algn="l" defTabSz="457189" rtl="0" eaLnBrk="0" fontAlgn="base" hangingPunct="0">
        <a:spcBef>
          <a:spcPct val="0"/>
        </a:spcBef>
        <a:spcAft>
          <a:spcPts val="600"/>
        </a:spcAft>
        <a:buFont typeface="Lucida Grande"/>
        <a:buChar char="-"/>
        <a:defRPr sz="2800" kern="1200">
          <a:solidFill>
            <a:schemeClr val="tx2"/>
          </a:solidFill>
          <a:latin typeface="+mn-lt"/>
          <a:ea typeface="ヒラギノ角ゴ Pro W3" charset="0"/>
          <a:cs typeface="ヒラギノ角ゴ Pro W3"/>
        </a:defRPr>
      </a:lvl2pPr>
      <a:lvl3pPr marL="684196" indent="-225419" algn="l" defTabSz="457189" rtl="0" eaLnBrk="0" fontAlgn="base" hangingPunct="0">
        <a:spcBef>
          <a:spcPct val="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ヒラギノ角ゴ Pro W3" charset="0"/>
          <a:cs typeface="ヒラギノ角ゴ Pro W3"/>
        </a:defRPr>
      </a:lvl3pPr>
      <a:lvl4pPr marL="912791" indent="-228594" algn="l" defTabSz="457189" rtl="0" eaLnBrk="0" fontAlgn="base" hangingPunct="0">
        <a:spcBef>
          <a:spcPct val="0"/>
        </a:spcBef>
        <a:spcAft>
          <a:spcPts val="600"/>
        </a:spcAft>
        <a:buFont typeface="Lucida Grande"/>
        <a:buChar char="-"/>
        <a:defRPr sz="2000" kern="1200">
          <a:solidFill>
            <a:schemeClr val="tx2"/>
          </a:solidFill>
          <a:latin typeface="+mn-lt"/>
          <a:ea typeface="ヒラギノ角ゴ Pro W3" charset="0"/>
          <a:cs typeface="ヒラギノ角ゴ Pro W3"/>
        </a:defRPr>
      </a:lvl4pPr>
      <a:lvl5pPr marL="1142972" indent="-230183" algn="l" defTabSz="457189" rtl="0" eaLnBrk="0" fontAlgn="base" hangingPunct="0">
        <a:spcBef>
          <a:spcPct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ヒラギノ角ゴ Pro W3" charset="0"/>
          <a:cs typeface="ヒラギノ角ゴ Pro W3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7D0E1A0-C19A-4DB8-BA1F-3D71830D1A93}"/>
              </a:ext>
            </a:extLst>
          </p:cNvPr>
          <p:cNvSpPr txBox="1"/>
          <p:nvPr userDrawn="1"/>
        </p:nvSpPr>
        <p:spPr>
          <a:xfrm>
            <a:off x="755776" y="4816800"/>
            <a:ext cx="1800000" cy="1222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1135"/>
                </a:solidFill>
                <a:effectLst/>
                <a:uLnTx/>
                <a:uFillTx/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2020 Nokia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920C8E0-2BA3-45B9-8A9F-1B9E59157439}"/>
              </a:ext>
            </a:extLst>
          </p:cNvPr>
          <p:cNvSpPr txBox="1">
            <a:spLocks/>
          </p:cNvSpPr>
          <p:nvPr userDrawn="1"/>
        </p:nvSpPr>
        <p:spPr>
          <a:xfrm>
            <a:off x="419102" y="4816800"/>
            <a:ext cx="252000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245D3D-131A-47D1-B100-B33219007AD2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1135"/>
                </a:solidFill>
                <a:effectLst/>
                <a:uLnTx/>
                <a:uFillTx/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1135"/>
              </a:solidFill>
              <a:effectLst/>
              <a:uLnTx/>
              <a:uFillTx/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141D57DB-1EB7-4DFA-9100-436A54579F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4000" y="4816800"/>
            <a:ext cx="4536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/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1135"/>
                </a:solidFill>
                <a:effectLst/>
                <a:uLnTx/>
                <a:uFillTx/>
                <a:latin typeface="Nokia Pure Text Light"/>
                <a:ea typeface="+mn-ea"/>
                <a:cs typeface="+mn-cs"/>
              </a:rPr>
              <a:t>Nokia internal use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1135"/>
              </a:solidFill>
              <a:effectLst/>
              <a:uLnTx/>
              <a:uFillTx/>
              <a:latin typeface="Nokia Pure Text Light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C5FB64-385A-4093-B8B2-2F00FF97827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226" y="4651000"/>
            <a:ext cx="1008112" cy="42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279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inuweb.ih.lucent.com/~hongwehl/sim2s7/vfq_cml_og_v3.jso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inuweb.ih.lucent.com/~hongwehl/sim2s7/vfq_cml_og_v3.json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7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water, umbrella, tent&#10;&#10;Description automatically generated">
            <a:extLst>
              <a:ext uri="{FF2B5EF4-FFF2-40B4-BE49-F238E27FC236}">
                <a16:creationId xmlns:a16="http://schemas.microsoft.com/office/drawing/2014/main" id="{40EC4F53-BF80-4872-A151-C177553C44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37"/>
            <a:ext cx="9150082" cy="5139663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2080241B-6748-45EC-BAEB-F545E32BC260}"/>
              </a:ext>
            </a:extLst>
          </p:cNvPr>
          <p:cNvSpPr txBox="1">
            <a:spLocks/>
          </p:cNvSpPr>
          <p:nvPr/>
        </p:nvSpPr>
        <p:spPr>
          <a:xfrm>
            <a:off x="507683" y="859618"/>
            <a:ext cx="8291898" cy="923732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6600" kern="1200" baseline="0">
                <a:solidFill>
                  <a:schemeClr val="tx1"/>
                </a:solidFill>
                <a:latin typeface="Nokia Pure Headline Ultra Light" panose="020B02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0"/>
              </a:spcAft>
              <a:defRPr/>
            </a:pPr>
            <a:r>
              <a:rPr lang="en-GB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sim2s7 Feasibility Study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D9B46F-FD3A-4E0E-9263-7BA1B92443AB}"/>
              </a:ext>
            </a:extLst>
          </p:cNvPr>
          <p:cNvSpPr txBox="1">
            <a:spLocks/>
          </p:cNvSpPr>
          <p:nvPr/>
        </p:nvSpPr>
        <p:spPr>
          <a:xfrm>
            <a:off x="507683" y="3562862"/>
            <a:ext cx="4988241" cy="10510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  <a:cs typeface="+mn-cs"/>
              </a:defRPr>
            </a:lvl1pPr>
            <a:lvl2pPr marL="23040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  <a:cs typeface="+mn-cs"/>
              </a:defRPr>
            </a:lvl2pPr>
            <a:lvl3pPr marL="46260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  <a:cs typeface="+mn-cs"/>
              </a:defRPr>
            </a:lvl3pPr>
            <a:lvl4pPr marL="69300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  <a:cs typeface="+mn-cs"/>
              </a:defRPr>
            </a:lvl4pPr>
            <a:lvl5pPr marL="92340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  <a:cs typeface="+mn-cs"/>
              </a:defRPr>
            </a:lvl5pPr>
            <a:lvl6pPr marL="115380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kern="1200" baseline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  <a:cs typeface="+mn-cs"/>
              </a:defRPr>
            </a:lvl6pPr>
            <a:lvl7pPr marL="138420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700" kern="12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  <a:cs typeface="+mn-cs"/>
              </a:defRPr>
            </a:lvl7pPr>
            <a:lvl8pPr marL="161460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600" kern="12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100" b="1" dirty="0">
                <a:solidFill>
                  <a:schemeClr val="bg1"/>
                </a:solidFill>
              </a:rPr>
              <a:t>Liu Hongwei</a:t>
            </a:r>
          </a:p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chemeClr val="bg1"/>
                </a:solidFill>
              </a:rPr>
              <a:t>Dec.</a:t>
            </a:r>
            <a:r>
              <a:rPr lang="en-US" sz="1800" dirty="0">
                <a:solidFill>
                  <a:schemeClr val="bg1"/>
                </a:solidFill>
              </a:rPr>
              <a:t> 2021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B15B33-E3EF-4FC0-B8AF-9D454533919A}"/>
              </a:ext>
            </a:extLst>
          </p:cNvPr>
          <p:cNvSpPr/>
          <p:nvPr/>
        </p:nvSpPr>
        <p:spPr>
          <a:xfrm>
            <a:off x="381039" y="3830287"/>
            <a:ext cx="2491546" cy="783647"/>
          </a:xfrm>
          <a:prstGeom prst="rect">
            <a:avLst/>
          </a:prstGeom>
          <a:noFill/>
          <a:ln w="31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78">
              <a:defRPr/>
            </a:pPr>
            <a:endParaRPr lang="en-US" sz="1400">
              <a:solidFill>
                <a:srgbClr val="FFFFFF"/>
              </a:solidFill>
              <a:latin typeface="Nokia Pure Text Light"/>
            </a:endParaRPr>
          </a:p>
        </p:txBody>
      </p:sp>
    </p:spTree>
    <p:extLst>
      <p:ext uri="{BB962C8B-B14F-4D97-AF65-F5344CB8AC3E}">
        <p14:creationId xmlns:p14="http://schemas.microsoft.com/office/powerpoint/2010/main" val="2880266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27FC7C-A8B7-4F3A-B18A-2C46D6D7FB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Problem we are facing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3DB2FE-DE3A-472A-B281-0C93F003FF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Introduction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63DDC9-03EA-4414-89FF-23AB6BCE8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00" y="1209600"/>
            <a:ext cx="5504022" cy="3370075"/>
          </a:xfrm>
          <a:prstGeom prst="rect">
            <a:avLst/>
          </a:prstGeom>
        </p:spPr>
      </p:pic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BD57190-04F3-4262-805A-E101F1E7A71A}"/>
              </a:ext>
            </a:extLst>
          </p:cNvPr>
          <p:cNvSpPr txBox="1">
            <a:spLocks/>
          </p:cNvSpPr>
          <p:nvPr/>
        </p:nvSpPr>
        <p:spPr>
          <a:xfrm>
            <a:off x="5921622" y="563824"/>
            <a:ext cx="3101608" cy="4508507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7030A0"/>
              </a:buClr>
              <a:buSzPct val="80000"/>
              <a:buFont typeface="Wingdings" panose="05000000000000000000" pitchFamily="2" charset="2"/>
              <a:buChar char="n"/>
              <a:tabLst>
                <a:tab pos="3946525" algn="l"/>
              </a:tabLst>
              <a:defRPr/>
            </a:pPr>
            <a:endParaRPr lang="en-US" altLang="zh-CN" b="1" kern="0" dirty="0"/>
          </a:p>
          <a:p>
            <a:pPr marL="342900" indent="-342900">
              <a:buClr>
                <a:srgbClr val="7030A0"/>
              </a:buClr>
              <a:buSzPct val="80000"/>
              <a:buFont typeface="Wingdings" panose="05000000000000000000" pitchFamily="2" charset="2"/>
              <a:buChar char="n"/>
              <a:tabLst>
                <a:tab pos="3946525" algn="l"/>
              </a:tabLst>
              <a:defRPr/>
            </a:pPr>
            <a:endParaRPr lang="en-US" altLang="zh-CN" b="1" kern="0" dirty="0"/>
          </a:p>
          <a:p>
            <a:pPr marL="342900" indent="-342900">
              <a:buClr>
                <a:srgbClr val="7030A0"/>
              </a:buClr>
              <a:buSzPct val="80000"/>
              <a:buFont typeface="Wingdings" panose="05000000000000000000" pitchFamily="2" charset="2"/>
              <a:buChar char="n"/>
              <a:tabLst>
                <a:tab pos="3946525" algn="l"/>
              </a:tabLst>
              <a:defRPr/>
            </a:pPr>
            <a:endParaRPr lang="en-US" altLang="zh-CN" b="1" kern="0" dirty="0"/>
          </a:p>
          <a:p>
            <a:pPr marL="342900" indent="-342900">
              <a:buClr>
                <a:srgbClr val="7030A0"/>
              </a:buClr>
              <a:buSzPct val="80000"/>
              <a:buFont typeface="Wingdings" panose="05000000000000000000" pitchFamily="2" charset="2"/>
              <a:buChar char="n"/>
              <a:tabLst>
                <a:tab pos="3946525" algn="l"/>
              </a:tabLst>
              <a:defRPr/>
            </a:pPr>
            <a:endParaRPr lang="en-US" altLang="zh-CN" b="1" kern="0" dirty="0"/>
          </a:p>
          <a:p>
            <a:pPr marL="0" indent="0">
              <a:buClr>
                <a:srgbClr val="7030A0"/>
              </a:buClr>
              <a:buSzPct val="80000"/>
              <a:buNone/>
              <a:tabLst>
                <a:tab pos="3946525" algn="l"/>
              </a:tabLst>
              <a:defRPr/>
            </a:pPr>
            <a:r>
              <a:rPr lang="en-US" altLang="zh-CN" b="1" kern="0" dirty="0"/>
              <a:t>MGTS is old, might be down anytime, we need prepare a plan B</a:t>
            </a:r>
          </a:p>
        </p:txBody>
      </p:sp>
    </p:spTree>
    <p:extLst>
      <p:ext uri="{BB962C8B-B14F-4D97-AF65-F5344CB8AC3E}">
        <p14:creationId xmlns:p14="http://schemas.microsoft.com/office/powerpoint/2010/main" val="4050069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8951A81-21A7-4239-847B-B8D9340BA3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9C969-829C-4423-8C94-2C56ED91F1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hlink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How MGTS </a:t>
            </a:r>
            <a:r>
              <a:rPr lang="en-US" altLang="zh-CN" dirty="0" err="1">
                <a:solidFill>
                  <a:schemeClr val="hlink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softshelf</a:t>
            </a:r>
            <a:r>
              <a:rPr lang="en-US" altLang="zh-CN" dirty="0">
                <a:solidFill>
                  <a:schemeClr val="hlink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 works</a:t>
            </a:r>
          </a:p>
          <a:p>
            <a:endParaRPr lang="zh-CN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07D9F80-3440-4259-BD3B-12383694E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6254" y="1050901"/>
            <a:ext cx="1995488" cy="374491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D1A9267-58F4-429B-ABE5-3BA1813BD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6842" y="1208064"/>
            <a:ext cx="719137" cy="3395662"/>
          </a:xfrm>
          <a:prstGeom prst="rect">
            <a:avLst/>
          </a:prstGeom>
          <a:solidFill>
            <a:srgbClr val="FFFF99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DE6FF672-FFE6-466B-A2F3-0A0C97279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2567" y="3557564"/>
            <a:ext cx="517525" cy="893762"/>
          </a:xfrm>
          <a:prstGeom prst="rect">
            <a:avLst/>
          </a:prstGeom>
          <a:solidFill>
            <a:srgbClr val="00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eaVert"/>
          <a:lstStyle>
            <a:lvl1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Aft>
                <a:spcPts val="1200"/>
              </a:spcAft>
              <a:buFont typeface="Times New Roman" panose="02020603050405020304" pitchFamily="18" charset="0"/>
              <a:buNone/>
            </a:pPr>
            <a:r>
              <a:rPr lang="en-US" altLang="zh-CN" sz="1400">
                <a:ea typeface="宋体" panose="02010600030101010101" pitchFamily="2" charset="-122"/>
              </a:rPr>
              <a:t>Soft shelf S7SCH</a:t>
            </a:r>
            <a:endParaRPr lang="en-US" altLang="zh-CN" sz="1400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CCB76D41-C941-43C5-822D-4AFF73235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0479" y="1244576"/>
            <a:ext cx="822325" cy="220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spcAft>
                <a:spcPts val="1200"/>
              </a:spcAft>
              <a:buFont typeface="Times New Roman" panose="02020603050405020304" pitchFamily="18" charset="0"/>
              <a:buNone/>
            </a:pPr>
            <a:r>
              <a:rPr lang="zh-CN" altLang="en-US" sz="1600">
                <a:latin typeface="Trebuchet MS" panose="020B0603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1200">
                <a:latin typeface="Trebuchet MS" panose="020B0603020202020204" pitchFamily="34" charset="0"/>
                <a:ea typeface="宋体" panose="02010600030101010101" pitchFamily="2" charset="-122"/>
              </a:rPr>
              <a:t>RCS 0-0-1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319AC589-DC88-454B-BC92-F8CC62F1E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8054" y="1317601"/>
            <a:ext cx="10763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ts val="1200"/>
              </a:spcAft>
              <a:buFont typeface="Times New Roman" panose="02020603050405020304" pitchFamily="18" charset="0"/>
              <a:buNone/>
            </a:pPr>
            <a:r>
              <a:rPr lang="en-US" altLang="zh-CN" sz="1400">
                <a:solidFill>
                  <a:schemeClr val="hlink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MGTS SERVER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938456CC-E52C-4E8F-9E18-C6FF9F81E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7579" y="4106839"/>
            <a:ext cx="1143000" cy="420687"/>
          </a:xfrm>
          <a:prstGeom prst="rect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2CDF438A-01C1-4E3A-BC4D-4594182861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9817" y="4195739"/>
            <a:ext cx="90487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ts val="1200"/>
              </a:spcAft>
              <a:buFont typeface="Times New Roman" panose="02020603050405020304" pitchFamily="18" charset="0"/>
              <a:buNone/>
            </a:pPr>
            <a:r>
              <a:rPr lang="en-US" altLang="zh-CN" sz="1800">
                <a:solidFill>
                  <a:schemeClr val="hlink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passThru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661A5D5F-C590-44C9-89C8-9536DC2194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1242" y="2030389"/>
            <a:ext cx="1308100" cy="508000"/>
          </a:xfrm>
          <a:prstGeom prst="rect">
            <a:avLst/>
          </a:prstGeom>
          <a:solidFill>
            <a:schemeClr val="accent2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spcAft>
                <a:spcPts val="1200"/>
              </a:spcAft>
              <a:buFont typeface="Times New Roman" panose="02020603050405020304" pitchFamily="18" charset="0"/>
              <a:buNone/>
            </a:pPr>
            <a:r>
              <a:rPr lang="en-US" altLang="zh-CN" sz="1800">
                <a:solidFill>
                  <a:schemeClr val="hlink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EE SOFTSHELF</a:t>
            </a: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4F8E1F41-3603-4161-8BEA-DC70A85A0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7342" y="1203301"/>
            <a:ext cx="719137" cy="3395663"/>
          </a:xfrm>
          <a:prstGeom prst="rect">
            <a:avLst/>
          </a:prstGeom>
          <a:solidFill>
            <a:srgbClr val="FFFF99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6420A372-3E77-402E-A578-98761DDFB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54" y="1257276"/>
            <a:ext cx="822325" cy="220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spcAft>
                <a:spcPts val="1200"/>
              </a:spcAft>
              <a:buFont typeface="Times New Roman" panose="02020603050405020304" pitchFamily="18" charset="0"/>
              <a:buNone/>
            </a:pPr>
            <a:r>
              <a:rPr lang="zh-CN" altLang="en-US" sz="1600">
                <a:latin typeface="Trebuchet MS" panose="020B0603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1200">
                <a:latin typeface="Trebuchet MS" panose="020B0603020202020204" pitchFamily="34" charset="0"/>
                <a:ea typeface="宋体" panose="02010600030101010101" pitchFamily="2" charset="-122"/>
              </a:rPr>
              <a:t>RCS 0-0-2</a:t>
            </a: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2FE8F7A4-39E7-49CD-BC80-0EB5845F4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492" y="1706539"/>
            <a:ext cx="315912" cy="771525"/>
          </a:xfrm>
          <a:prstGeom prst="rect">
            <a:avLst/>
          </a:prstGeom>
          <a:solidFill>
            <a:srgbClr val="99FF33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eaVert"/>
          <a:lstStyle>
            <a:lvl1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Aft>
                <a:spcPts val="1200"/>
              </a:spcAft>
              <a:buFont typeface="Times New Roman" panose="02020603050405020304" pitchFamily="18" charset="0"/>
              <a:buNone/>
            </a:pPr>
            <a:r>
              <a:rPr lang="en-US" altLang="zh-CN" sz="1600">
                <a:ea typeface="宋体" panose="02010600030101010101" pitchFamily="2" charset="-122"/>
              </a:rPr>
              <a:t>SPA</a:t>
            </a:r>
            <a:endParaRPr lang="en-US" altLang="zh-CN" sz="1600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112F1802-08F8-448A-8DAE-0ADD69F66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9604" y="1223939"/>
            <a:ext cx="719138" cy="3395662"/>
          </a:xfrm>
          <a:prstGeom prst="rect">
            <a:avLst/>
          </a:prstGeom>
          <a:solidFill>
            <a:srgbClr val="FFFF99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8D2B081E-55EF-4C10-B383-B50653343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3717" y="1277914"/>
            <a:ext cx="822325" cy="220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spcAft>
                <a:spcPts val="1200"/>
              </a:spcAft>
              <a:buFont typeface="Times New Roman" panose="02020603050405020304" pitchFamily="18" charset="0"/>
              <a:buNone/>
            </a:pPr>
            <a:r>
              <a:rPr lang="zh-CN" altLang="en-US" sz="1600">
                <a:latin typeface="Trebuchet MS" panose="020B0603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1200">
                <a:latin typeface="Trebuchet MS" panose="020B0603020202020204" pitchFamily="34" charset="0"/>
                <a:ea typeface="宋体" panose="02010600030101010101" pitchFamily="2" charset="-122"/>
              </a:rPr>
              <a:t>RCS 0-0-9</a:t>
            </a:r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12B84535-1BD2-4927-9A78-D9FC6A2A6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3754" y="1727176"/>
            <a:ext cx="315913" cy="771525"/>
          </a:xfrm>
          <a:prstGeom prst="rect">
            <a:avLst/>
          </a:prstGeom>
          <a:solidFill>
            <a:srgbClr val="99FF33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eaVert"/>
          <a:lstStyle>
            <a:lvl1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Aft>
                <a:spcPts val="1200"/>
              </a:spcAft>
              <a:buFont typeface="Times New Roman" panose="02020603050405020304" pitchFamily="18" charset="0"/>
              <a:buNone/>
            </a:pPr>
            <a:r>
              <a:rPr lang="en-US" altLang="zh-CN" sz="1600">
                <a:ea typeface="宋体" panose="02010600030101010101" pitchFamily="2" charset="-122"/>
              </a:rPr>
              <a:t>SPA</a:t>
            </a:r>
            <a:endParaRPr lang="en-US" altLang="zh-CN" sz="1600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8A06D109-E27C-4088-882D-88CA11460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929" y="1219176"/>
            <a:ext cx="719138" cy="3395663"/>
          </a:xfrm>
          <a:prstGeom prst="rect">
            <a:avLst/>
          </a:prstGeom>
          <a:solidFill>
            <a:srgbClr val="FFFF99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Box 18">
            <a:extLst>
              <a:ext uri="{FF2B5EF4-FFF2-40B4-BE49-F238E27FC236}">
                <a16:creationId xmlns:a16="http://schemas.microsoft.com/office/drawing/2014/main" id="{4EC2AC97-F031-4484-A0E5-E8B00320E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117" y="1273151"/>
            <a:ext cx="884237" cy="220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spcAft>
                <a:spcPts val="1200"/>
              </a:spcAft>
              <a:buFont typeface="Times New Roman" panose="02020603050405020304" pitchFamily="18" charset="0"/>
              <a:buNone/>
            </a:pPr>
            <a:r>
              <a:rPr lang="zh-CN" altLang="en-US" sz="1600">
                <a:latin typeface="Trebuchet MS" panose="020B0603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1200">
                <a:latin typeface="Trebuchet MS" panose="020B0603020202020204" pitchFamily="34" charset="0"/>
                <a:ea typeface="宋体" panose="02010600030101010101" pitchFamily="2" charset="-122"/>
              </a:rPr>
              <a:t>RCS 0-0-10</a:t>
            </a:r>
          </a:p>
        </p:txBody>
      </p:sp>
      <p:sp>
        <p:nvSpPr>
          <p:cNvPr id="21" name="Text Box 19">
            <a:extLst>
              <a:ext uri="{FF2B5EF4-FFF2-40B4-BE49-F238E27FC236}">
                <a16:creationId xmlns:a16="http://schemas.microsoft.com/office/drawing/2014/main" id="{1E0CFAFD-4EAB-464F-9BEC-A8E31CAF2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079" y="1722414"/>
            <a:ext cx="315913" cy="771525"/>
          </a:xfrm>
          <a:prstGeom prst="rect">
            <a:avLst/>
          </a:prstGeom>
          <a:solidFill>
            <a:srgbClr val="99FF33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eaVert"/>
          <a:lstStyle>
            <a:lvl1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Aft>
                <a:spcPts val="1200"/>
              </a:spcAft>
              <a:buFont typeface="Times New Roman" panose="02020603050405020304" pitchFamily="18" charset="0"/>
              <a:buNone/>
            </a:pPr>
            <a:r>
              <a:rPr lang="en-US" altLang="zh-CN" sz="1600">
                <a:ea typeface="宋体" panose="02010600030101010101" pitchFamily="2" charset="-122"/>
              </a:rPr>
              <a:t>SPA</a:t>
            </a:r>
            <a:endParaRPr lang="en-US" altLang="zh-CN" sz="1600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6345503F-C7C5-44AF-AACF-53DD7E22B495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6917" y="4222726"/>
            <a:ext cx="2617787" cy="15875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23" name="Text Box 21">
            <a:extLst>
              <a:ext uri="{FF2B5EF4-FFF2-40B4-BE49-F238E27FC236}">
                <a16:creationId xmlns:a16="http://schemas.microsoft.com/office/drawing/2014/main" id="{E73E2EDC-7195-4096-8011-309A15027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6929" y="4295751"/>
            <a:ext cx="3238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ts val="1200"/>
              </a:spcAft>
              <a:buFont typeface="Times New Roman" panose="02020603050405020304" pitchFamily="18" charset="0"/>
              <a:buNone/>
            </a:pPr>
            <a:r>
              <a:rPr lang="en-US" altLang="zh-CN" sz="1400">
                <a:solidFill>
                  <a:schemeClr val="hlink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UDP</a:t>
            </a:r>
          </a:p>
        </p:txBody>
      </p:sp>
      <p:sp>
        <p:nvSpPr>
          <p:cNvPr id="24" name="Line 22">
            <a:extLst>
              <a:ext uri="{FF2B5EF4-FFF2-40B4-BE49-F238E27FC236}">
                <a16:creationId xmlns:a16="http://schemas.microsoft.com/office/drawing/2014/main" id="{F518F673-2911-41B2-ABC5-58B8B1E2F9AC}"/>
              </a:ext>
            </a:extLst>
          </p:cNvPr>
          <p:cNvSpPr>
            <a:spLocks noChangeShapeType="1"/>
          </p:cNvSpPr>
          <p:nvPr/>
        </p:nvSpPr>
        <p:spPr bwMode="auto">
          <a:xfrm>
            <a:off x="7862629" y="2573314"/>
            <a:ext cx="0" cy="1493837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25" name="Text Box 23">
            <a:extLst>
              <a:ext uri="{FF2B5EF4-FFF2-40B4-BE49-F238E27FC236}">
                <a16:creationId xmlns:a16="http://schemas.microsoft.com/office/drawing/2014/main" id="{F534B47E-167C-4792-80DD-E4AE76A38AC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7874536" y="3086870"/>
            <a:ext cx="323850" cy="19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ts val="1200"/>
              </a:spcAft>
              <a:buFont typeface="Times New Roman" panose="02020603050405020304" pitchFamily="18" charset="0"/>
              <a:buNone/>
            </a:pPr>
            <a:r>
              <a:rPr lang="en-US" altLang="zh-CN" sz="1400">
                <a:solidFill>
                  <a:schemeClr val="hlink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UDP</a:t>
            </a:r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99AC30FF-9104-4819-94E6-8A53DCD93AB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9129" y="2519339"/>
            <a:ext cx="1109663" cy="1019175"/>
          </a:xfrm>
          <a:prstGeom prst="line">
            <a:avLst/>
          </a:prstGeom>
          <a:noFill/>
          <a:ln w="9525">
            <a:solidFill>
              <a:srgbClr val="F70018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27" name="Line 25">
            <a:extLst>
              <a:ext uri="{FF2B5EF4-FFF2-40B4-BE49-F238E27FC236}">
                <a16:creationId xmlns:a16="http://schemas.microsoft.com/office/drawing/2014/main" id="{F1E98AA7-22FA-4F83-AB86-710447C7A84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28529" y="2505051"/>
            <a:ext cx="2109788" cy="1036638"/>
          </a:xfrm>
          <a:prstGeom prst="line">
            <a:avLst/>
          </a:prstGeom>
          <a:noFill/>
          <a:ln w="9525">
            <a:solidFill>
              <a:srgbClr val="F70018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28" name="Line 26">
            <a:extLst>
              <a:ext uri="{FF2B5EF4-FFF2-40B4-BE49-F238E27FC236}">
                <a16:creationId xmlns:a16="http://schemas.microsoft.com/office/drawing/2014/main" id="{A37247F9-E7AB-41E1-BDA5-697F7762EB6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0317" y="2490764"/>
            <a:ext cx="2998787" cy="1046162"/>
          </a:xfrm>
          <a:prstGeom prst="line">
            <a:avLst/>
          </a:prstGeom>
          <a:noFill/>
          <a:ln w="9525">
            <a:solidFill>
              <a:srgbClr val="F70018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29" name="Text Box 28">
            <a:extLst>
              <a:ext uri="{FF2B5EF4-FFF2-40B4-BE49-F238E27FC236}">
                <a16:creationId xmlns:a16="http://schemas.microsoft.com/office/drawing/2014/main" id="{9D740361-BA5E-4F04-884E-83DA90F48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1017" y="3581376"/>
            <a:ext cx="701675" cy="17780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ts val="1200"/>
              </a:spcAft>
              <a:buFont typeface="Times New Roman" panose="02020603050405020304" pitchFamily="18" charset="0"/>
              <a:buNone/>
            </a:pPr>
            <a:r>
              <a:rPr lang="zh-CN" altLang="en-US" sz="1200">
                <a:solidFill>
                  <a:schemeClr val="hlink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200">
                <a:solidFill>
                  <a:schemeClr val="hlink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passThru</a:t>
            </a:r>
          </a:p>
        </p:txBody>
      </p:sp>
      <p:sp>
        <p:nvSpPr>
          <p:cNvPr id="30" name="Text Box 29">
            <a:extLst>
              <a:ext uri="{FF2B5EF4-FFF2-40B4-BE49-F238E27FC236}">
                <a16:creationId xmlns:a16="http://schemas.microsoft.com/office/drawing/2014/main" id="{5A98C1FA-DD8F-4D9B-82B2-388BDE752D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4667" y="3298801"/>
            <a:ext cx="701675" cy="17780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ts val="1200"/>
              </a:spcAft>
              <a:buFont typeface="Times New Roman" panose="02020603050405020304" pitchFamily="18" charset="0"/>
              <a:buNone/>
            </a:pPr>
            <a:r>
              <a:rPr lang="zh-CN" altLang="en-US" sz="1200">
                <a:solidFill>
                  <a:schemeClr val="hlink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200">
                <a:solidFill>
                  <a:schemeClr val="hlink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passThru</a:t>
            </a:r>
          </a:p>
        </p:txBody>
      </p:sp>
      <p:sp>
        <p:nvSpPr>
          <p:cNvPr id="31" name="Text Box 30">
            <a:extLst>
              <a:ext uri="{FF2B5EF4-FFF2-40B4-BE49-F238E27FC236}">
                <a16:creationId xmlns:a16="http://schemas.microsoft.com/office/drawing/2014/main" id="{1E5B711B-253F-4016-90C8-3AB480E3C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4192" y="3028926"/>
            <a:ext cx="701675" cy="17780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ts val="1200"/>
              </a:spcAft>
              <a:buFont typeface="Times New Roman" panose="02020603050405020304" pitchFamily="18" charset="0"/>
              <a:buNone/>
            </a:pPr>
            <a:r>
              <a:rPr lang="zh-CN" altLang="en-US" sz="1200">
                <a:solidFill>
                  <a:schemeClr val="hlink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200">
                <a:solidFill>
                  <a:schemeClr val="hlink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passThru</a:t>
            </a:r>
          </a:p>
        </p:txBody>
      </p:sp>
      <p:sp>
        <p:nvSpPr>
          <p:cNvPr id="32" name="Text Box 31">
            <a:extLst>
              <a:ext uri="{FF2B5EF4-FFF2-40B4-BE49-F238E27FC236}">
                <a16:creationId xmlns:a16="http://schemas.microsoft.com/office/drawing/2014/main" id="{74E65DAA-F370-4528-AD27-2F5C7F34B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6254" y="2744764"/>
            <a:ext cx="701675" cy="17780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ts val="1200"/>
              </a:spcAft>
              <a:buFont typeface="Times New Roman" panose="02020603050405020304" pitchFamily="18" charset="0"/>
              <a:buNone/>
            </a:pPr>
            <a:r>
              <a:rPr lang="zh-CN" altLang="en-US" sz="1200">
                <a:solidFill>
                  <a:schemeClr val="hlink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200">
                <a:solidFill>
                  <a:schemeClr val="hlink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passThru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7EAB6EE-57F0-4018-A37C-7151245DFDFC}"/>
              </a:ext>
            </a:extLst>
          </p:cNvPr>
          <p:cNvGrpSpPr>
            <a:grpSpLocks/>
          </p:cNvGrpSpPr>
          <p:nvPr/>
        </p:nvGrpSpPr>
        <p:grpSpPr bwMode="auto">
          <a:xfrm>
            <a:off x="5049579" y="3375001"/>
            <a:ext cx="581025" cy="508000"/>
            <a:chOff x="2130" y="3570"/>
            <a:chExt cx="366" cy="32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39EA663-802A-4E75-B958-37924A664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0" y="3578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536387F-45F1-4F02-8D1A-98140FC71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1" y="3579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DAE63A2-D4B5-4CE9-9E97-138B5BEE9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7" y="3575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C478DF7-913D-49F1-8350-624873257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0" y="3570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A2FB17F-4A1A-4E72-83AB-F9A259465E44}"/>
              </a:ext>
            </a:extLst>
          </p:cNvPr>
          <p:cNvGrpSpPr>
            <a:grpSpLocks/>
          </p:cNvGrpSpPr>
          <p:nvPr/>
        </p:nvGrpSpPr>
        <p:grpSpPr bwMode="auto">
          <a:xfrm>
            <a:off x="5017829" y="1279501"/>
            <a:ext cx="581025" cy="508000"/>
            <a:chOff x="2130" y="3570"/>
            <a:chExt cx="366" cy="32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46FC340-CA8E-4041-8833-0BA076B4A0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0" y="3578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4392975-C5E6-451B-A6E4-20F731BD8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1" y="3579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1FCA08A-0F60-4FAA-814E-6115E86677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7" y="3575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AAE5B03-B091-4558-B53A-94BEF4EE28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0" y="3570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EB7BF4B-A6AD-416E-A62C-89769043C8F4}"/>
              </a:ext>
            </a:extLst>
          </p:cNvPr>
          <p:cNvGrpSpPr>
            <a:grpSpLocks/>
          </p:cNvGrpSpPr>
          <p:nvPr/>
        </p:nvGrpSpPr>
        <p:grpSpPr bwMode="auto">
          <a:xfrm>
            <a:off x="5025767" y="1993876"/>
            <a:ext cx="581025" cy="508000"/>
            <a:chOff x="2130" y="3570"/>
            <a:chExt cx="366" cy="32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1B6E38C-55DE-4569-895D-DD9A7DFA5E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0" y="3578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43DC91C-9804-44D9-96E8-15C2197247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1" y="3579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BC896D2-B5D8-42DE-ABA4-A05216F8EC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7" y="3575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301A13A-07CC-4A1A-B513-C375F1D818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0" y="3570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7AB1E4D-90EE-448E-BD4F-852E99C155D1}"/>
              </a:ext>
            </a:extLst>
          </p:cNvPr>
          <p:cNvGrpSpPr>
            <a:grpSpLocks/>
          </p:cNvGrpSpPr>
          <p:nvPr/>
        </p:nvGrpSpPr>
        <p:grpSpPr bwMode="auto">
          <a:xfrm>
            <a:off x="5043229" y="2681264"/>
            <a:ext cx="581025" cy="508000"/>
            <a:chOff x="2130" y="3570"/>
            <a:chExt cx="366" cy="32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EEC2C1E-4807-4B97-B485-A92504A84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0" y="3578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422CF85-B3D2-4394-B7E8-8D2BBE7DC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1" y="3579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DD6C6D9-91B0-4F6A-AF1C-DDF930A0A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7" y="3575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FADBC03-BF15-47C0-B0AF-DF4C7883EE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0" y="3570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3" name="Line 52">
            <a:extLst>
              <a:ext uri="{FF2B5EF4-FFF2-40B4-BE49-F238E27FC236}">
                <a16:creationId xmlns:a16="http://schemas.microsoft.com/office/drawing/2014/main" id="{C8119B31-CD3A-45F5-87C8-3F05448D6C29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9492" y="1627164"/>
            <a:ext cx="755650" cy="1157287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54" name="Line 53">
            <a:extLst>
              <a:ext uri="{FF2B5EF4-FFF2-40B4-BE49-F238E27FC236}">
                <a16:creationId xmlns:a16="http://schemas.microsoft.com/office/drawing/2014/main" id="{11C53BE1-865E-4607-BD80-1E3FBB37053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03617" y="2347889"/>
            <a:ext cx="779462" cy="78105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55" name="Line 54">
            <a:extLst>
              <a:ext uri="{FF2B5EF4-FFF2-40B4-BE49-F238E27FC236}">
                <a16:creationId xmlns:a16="http://schemas.microsoft.com/office/drawing/2014/main" id="{8B7EDCB4-D6B3-461B-A630-D0855AB2E65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9492" y="3095601"/>
            <a:ext cx="755650" cy="3175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56" name="Line 55">
            <a:extLst>
              <a:ext uri="{FF2B5EF4-FFF2-40B4-BE49-F238E27FC236}">
                <a16:creationId xmlns:a16="http://schemas.microsoft.com/office/drawing/2014/main" id="{01601C7C-B0CB-42C8-A6A6-3583C0BBE4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27429" y="3648051"/>
            <a:ext cx="773113" cy="762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57" name="Freeform 56">
            <a:extLst>
              <a:ext uri="{FF2B5EF4-FFF2-40B4-BE49-F238E27FC236}">
                <a16:creationId xmlns:a16="http://schemas.microsoft.com/office/drawing/2014/main" id="{E9268D74-92A8-4775-9207-DE1223C8C37F}"/>
              </a:ext>
            </a:extLst>
          </p:cNvPr>
          <p:cNvSpPr>
            <a:spLocks/>
          </p:cNvSpPr>
          <p:nvPr/>
        </p:nvSpPr>
        <p:spPr bwMode="auto">
          <a:xfrm>
            <a:off x="7079992" y="2541564"/>
            <a:ext cx="176212" cy="327025"/>
          </a:xfrm>
          <a:custGeom>
            <a:avLst/>
            <a:gdLst>
              <a:gd name="T0" fmla="*/ 95 w 111"/>
              <a:gd name="T1" fmla="*/ 0 h 206"/>
              <a:gd name="T2" fmla="*/ 95 w 111"/>
              <a:gd name="T3" fmla="*/ 174 h 206"/>
              <a:gd name="T4" fmla="*/ 0 w 111"/>
              <a:gd name="T5" fmla="*/ 195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1" h="206">
                <a:moveTo>
                  <a:pt x="95" y="0"/>
                </a:moveTo>
                <a:cubicBezTo>
                  <a:pt x="103" y="71"/>
                  <a:pt x="111" y="142"/>
                  <a:pt x="95" y="174"/>
                </a:cubicBezTo>
                <a:cubicBezTo>
                  <a:pt x="79" y="206"/>
                  <a:pt x="16" y="192"/>
                  <a:pt x="0" y="195"/>
                </a:cubicBezTo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58" name="Freeform 57">
            <a:extLst>
              <a:ext uri="{FF2B5EF4-FFF2-40B4-BE49-F238E27FC236}">
                <a16:creationId xmlns:a16="http://schemas.microsoft.com/office/drawing/2014/main" id="{2BB38244-53A8-4657-82D9-397B40B37412}"/>
              </a:ext>
            </a:extLst>
          </p:cNvPr>
          <p:cNvSpPr>
            <a:spLocks/>
          </p:cNvSpPr>
          <p:nvPr/>
        </p:nvSpPr>
        <p:spPr bwMode="auto">
          <a:xfrm>
            <a:off x="7079992" y="2541564"/>
            <a:ext cx="192087" cy="293687"/>
          </a:xfrm>
          <a:custGeom>
            <a:avLst/>
            <a:gdLst>
              <a:gd name="T0" fmla="*/ 121 w 121"/>
              <a:gd name="T1" fmla="*/ 0 h 185"/>
              <a:gd name="T2" fmla="*/ 121 w 121"/>
              <a:gd name="T3" fmla="*/ 185 h 185"/>
              <a:gd name="T4" fmla="*/ 0 w 121"/>
              <a:gd name="T5" fmla="*/ 185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1" h="185">
                <a:moveTo>
                  <a:pt x="121" y="0"/>
                </a:moveTo>
                <a:lnTo>
                  <a:pt x="121" y="185"/>
                </a:lnTo>
                <a:lnTo>
                  <a:pt x="0" y="185"/>
                </a:lnTo>
              </a:path>
            </a:pathLst>
          </a:custGeom>
          <a:noFill/>
          <a:ln w="3175" cap="flat" cmpd="sng">
            <a:solidFill>
              <a:schemeClr val="hlink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59" name="Freeform 58">
            <a:extLst>
              <a:ext uri="{FF2B5EF4-FFF2-40B4-BE49-F238E27FC236}">
                <a16:creationId xmlns:a16="http://schemas.microsoft.com/office/drawing/2014/main" id="{13BD625A-2824-46DB-8BA9-67443C7C5604}"/>
              </a:ext>
            </a:extLst>
          </p:cNvPr>
          <p:cNvSpPr>
            <a:spLocks/>
          </p:cNvSpPr>
          <p:nvPr/>
        </p:nvSpPr>
        <p:spPr bwMode="auto">
          <a:xfrm>
            <a:off x="7095867" y="2541564"/>
            <a:ext cx="285750" cy="554037"/>
          </a:xfrm>
          <a:custGeom>
            <a:avLst/>
            <a:gdLst>
              <a:gd name="T0" fmla="*/ 180 w 180"/>
              <a:gd name="T1" fmla="*/ 0 h 349"/>
              <a:gd name="T2" fmla="*/ 180 w 180"/>
              <a:gd name="T3" fmla="*/ 349 h 349"/>
              <a:gd name="T4" fmla="*/ 0 w 180"/>
              <a:gd name="T5" fmla="*/ 349 h 3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0" h="349">
                <a:moveTo>
                  <a:pt x="180" y="0"/>
                </a:moveTo>
                <a:lnTo>
                  <a:pt x="180" y="349"/>
                </a:lnTo>
                <a:lnTo>
                  <a:pt x="0" y="349"/>
                </a:lnTo>
              </a:path>
            </a:pathLst>
          </a:custGeom>
          <a:noFill/>
          <a:ln w="3175" cap="flat" cmpd="sng">
            <a:solidFill>
              <a:schemeClr val="hlink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60" name="Freeform 59">
            <a:extLst>
              <a:ext uri="{FF2B5EF4-FFF2-40B4-BE49-F238E27FC236}">
                <a16:creationId xmlns:a16="http://schemas.microsoft.com/office/drawing/2014/main" id="{E049EE78-2227-489C-9E37-74F82E4E9886}"/>
              </a:ext>
            </a:extLst>
          </p:cNvPr>
          <p:cNvSpPr>
            <a:spLocks/>
          </p:cNvSpPr>
          <p:nvPr/>
        </p:nvSpPr>
        <p:spPr bwMode="auto">
          <a:xfrm>
            <a:off x="7095867" y="2541564"/>
            <a:ext cx="419100" cy="822325"/>
          </a:xfrm>
          <a:custGeom>
            <a:avLst/>
            <a:gdLst>
              <a:gd name="T0" fmla="*/ 264 w 264"/>
              <a:gd name="T1" fmla="*/ 0 h 518"/>
              <a:gd name="T2" fmla="*/ 264 w 264"/>
              <a:gd name="T3" fmla="*/ 518 h 518"/>
              <a:gd name="T4" fmla="*/ 0 w 264"/>
              <a:gd name="T5" fmla="*/ 518 h 5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64" h="518">
                <a:moveTo>
                  <a:pt x="264" y="0"/>
                </a:moveTo>
                <a:lnTo>
                  <a:pt x="264" y="518"/>
                </a:lnTo>
                <a:lnTo>
                  <a:pt x="0" y="518"/>
                </a:lnTo>
              </a:path>
            </a:pathLst>
          </a:custGeom>
          <a:noFill/>
          <a:ln w="3175" cap="flat" cmpd="sng">
            <a:solidFill>
              <a:schemeClr val="hlink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61" name="Freeform 60">
            <a:extLst>
              <a:ext uri="{FF2B5EF4-FFF2-40B4-BE49-F238E27FC236}">
                <a16:creationId xmlns:a16="http://schemas.microsoft.com/office/drawing/2014/main" id="{383C9022-3419-444F-8262-5253F684A06A}"/>
              </a:ext>
            </a:extLst>
          </p:cNvPr>
          <p:cNvSpPr>
            <a:spLocks/>
          </p:cNvSpPr>
          <p:nvPr/>
        </p:nvSpPr>
        <p:spPr bwMode="auto">
          <a:xfrm>
            <a:off x="7087929" y="2533626"/>
            <a:ext cx="569913" cy="1114425"/>
          </a:xfrm>
          <a:custGeom>
            <a:avLst/>
            <a:gdLst>
              <a:gd name="T0" fmla="*/ 359 w 359"/>
              <a:gd name="T1" fmla="*/ 0 h 702"/>
              <a:gd name="T2" fmla="*/ 359 w 359"/>
              <a:gd name="T3" fmla="*/ 702 h 702"/>
              <a:gd name="T4" fmla="*/ 0 w 359"/>
              <a:gd name="T5" fmla="*/ 702 h 7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59" h="702">
                <a:moveTo>
                  <a:pt x="359" y="0"/>
                </a:moveTo>
                <a:lnTo>
                  <a:pt x="359" y="702"/>
                </a:lnTo>
                <a:lnTo>
                  <a:pt x="0" y="702"/>
                </a:lnTo>
              </a:path>
            </a:pathLst>
          </a:custGeom>
          <a:noFill/>
          <a:ln w="3175" cap="flat" cmpd="sng">
            <a:solidFill>
              <a:schemeClr val="hlink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62" name="Text Box 28">
            <a:extLst>
              <a:ext uri="{FF2B5EF4-FFF2-40B4-BE49-F238E27FC236}">
                <a16:creationId xmlns:a16="http://schemas.microsoft.com/office/drawing/2014/main" id="{D15EF83E-8A97-4DC4-952A-E6CB2F36C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1017" y="3581466"/>
            <a:ext cx="701675" cy="17780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ts val="1200"/>
              </a:spcAft>
              <a:buFont typeface="Times New Roman" panose="02020603050405020304" pitchFamily="18" charset="0"/>
              <a:buNone/>
            </a:pPr>
            <a:r>
              <a:rPr lang="zh-CN" altLang="en-US" sz="1200">
                <a:solidFill>
                  <a:schemeClr val="hlink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200">
                <a:solidFill>
                  <a:schemeClr val="hlink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passThru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A09E138-ED8C-4679-82F4-A9FB4101DC7F}"/>
              </a:ext>
            </a:extLst>
          </p:cNvPr>
          <p:cNvGrpSpPr>
            <a:grpSpLocks/>
          </p:cNvGrpSpPr>
          <p:nvPr/>
        </p:nvGrpSpPr>
        <p:grpSpPr bwMode="auto">
          <a:xfrm>
            <a:off x="5049579" y="3375091"/>
            <a:ext cx="581025" cy="508000"/>
            <a:chOff x="2130" y="3570"/>
            <a:chExt cx="366" cy="320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F5C4AACE-5EA5-4116-B159-DD68C35A7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0" y="3578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7CC194D-747B-4AF9-A35A-B5043E96A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1" y="3579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B2A8D9B-94C0-4061-96B3-284D61E17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7" y="3575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68076F41-56EB-49C3-9483-147C86C98F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0" y="3570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8" name="Line 55">
            <a:extLst>
              <a:ext uri="{FF2B5EF4-FFF2-40B4-BE49-F238E27FC236}">
                <a16:creationId xmlns:a16="http://schemas.microsoft.com/office/drawing/2014/main" id="{0A6D66B0-6846-4422-A93F-34E0C1BDB9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27429" y="3648141"/>
            <a:ext cx="773113" cy="762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23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B787FE3-BB08-4AB0-9002-6AC0030082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D6E6E-897D-4342-AC89-AE5926F847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D56CBE-D01C-4346-A26D-872CC9474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36F195-27C5-4AB4-89C1-C86D264E280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1020"/>
          <a:stretch/>
        </p:blipFill>
        <p:spPr>
          <a:xfrm>
            <a:off x="5137218" y="8311"/>
            <a:ext cx="3991414" cy="5143500"/>
          </a:xfrm>
          <a:prstGeom prst="rect">
            <a:avLst/>
          </a:prstGeom>
          <a:ln>
            <a:noFill/>
          </a:ln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DFAD20E5-7E11-4311-818C-DB1E682E721D}"/>
              </a:ext>
            </a:extLst>
          </p:cNvPr>
          <p:cNvSpPr/>
          <p:nvPr/>
        </p:nvSpPr>
        <p:spPr>
          <a:xfrm>
            <a:off x="640080" y="3288767"/>
            <a:ext cx="3470878" cy="302332"/>
          </a:xfrm>
          <a:prstGeom prst="ellipse">
            <a:avLst/>
          </a:prstGeom>
          <a:noFill/>
          <a:ln w="3492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endParaRPr lang="zh-CN" altLang="en-US" sz="1200" dirty="0" err="1">
              <a:solidFill>
                <a:schemeClr val="bg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B92C29B-84C9-4848-A264-49434F2FB2B1}"/>
              </a:ext>
            </a:extLst>
          </p:cNvPr>
          <p:cNvSpPr/>
          <p:nvPr/>
        </p:nvSpPr>
        <p:spPr>
          <a:xfrm>
            <a:off x="6466300" y="1523999"/>
            <a:ext cx="581891" cy="3178629"/>
          </a:xfrm>
          <a:prstGeom prst="ellipse">
            <a:avLst/>
          </a:prstGeom>
          <a:noFill/>
          <a:ln w="3492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endParaRPr lang="zh-CN" altLang="en-US" sz="1200" dirty="0" err="1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3A75A6-74E2-4CCA-877C-59CDC871F4E6}"/>
              </a:ext>
            </a:extLst>
          </p:cNvPr>
          <p:cNvSpPr txBox="1"/>
          <p:nvPr/>
        </p:nvSpPr>
        <p:spPr>
          <a:xfrm>
            <a:off x="266700" y="3762375"/>
            <a:ext cx="4119159" cy="940253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r>
              <a:rPr lang="en-US" altLang="zh-CN" sz="2000" dirty="0">
                <a:solidFill>
                  <a:schemeClr val="tx2"/>
                </a:solidFill>
              </a:rPr>
              <a:t>At lower layer, Raw message encapsulated in UDP datagram</a:t>
            </a:r>
            <a:endParaRPr lang="zh-CN" altLang="en-US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612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8951A81-21A7-4239-847B-B8D9340BA3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sim2s7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9C969-829C-4423-8C94-2C56ED91F1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Solution Plan</a:t>
            </a:r>
            <a:endParaRPr lang="zh-CN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07D9F80-3440-4259-BD3B-12383694E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6254" y="1050901"/>
            <a:ext cx="1995488" cy="374491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zh-CN" alt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D1A9267-58F4-429B-ABE5-3BA1813BD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6842" y="1208064"/>
            <a:ext cx="719137" cy="3395662"/>
          </a:xfrm>
          <a:prstGeom prst="rect">
            <a:avLst/>
          </a:prstGeom>
          <a:solidFill>
            <a:srgbClr val="FFFF99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DE6FF672-FFE6-466B-A2F3-0A0C97279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2567" y="3557564"/>
            <a:ext cx="517525" cy="893762"/>
          </a:xfrm>
          <a:prstGeom prst="rect">
            <a:avLst/>
          </a:prstGeom>
          <a:solidFill>
            <a:srgbClr val="00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eaVert"/>
          <a:lstStyle>
            <a:lvl1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Aft>
                <a:spcPts val="1200"/>
              </a:spcAft>
              <a:buFont typeface="Times New Roman" panose="02020603050405020304" pitchFamily="18" charset="0"/>
              <a:buNone/>
            </a:pPr>
            <a:r>
              <a:rPr lang="en-US" altLang="zh-CN" sz="1400">
                <a:ea typeface="宋体" panose="02010600030101010101" pitchFamily="2" charset="-122"/>
              </a:rPr>
              <a:t>Soft shelf S7SCH</a:t>
            </a:r>
            <a:endParaRPr lang="en-US" altLang="zh-CN" sz="1400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CCB76D41-C941-43C5-822D-4AFF73235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0479" y="1244576"/>
            <a:ext cx="822325" cy="220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spcAft>
                <a:spcPts val="1200"/>
              </a:spcAft>
              <a:buFont typeface="Times New Roman" panose="02020603050405020304" pitchFamily="18" charset="0"/>
              <a:buNone/>
            </a:pPr>
            <a:r>
              <a:rPr lang="zh-CN" altLang="en-US" sz="1600">
                <a:latin typeface="Trebuchet MS" panose="020B0603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1200">
                <a:latin typeface="Trebuchet MS" panose="020B0603020202020204" pitchFamily="34" charset="0"/>
                <a:ea typeface="宋体" panose="02010600030101010101" pitchFamily="2" charset="-122"/>
              </a:rPr>
              <a:t>RCS 0-0-1</a:t>
            </a: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4F8E1F41-3603-4161-8BEA-DC70A85A0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7342" y="1203301"/>
            <a:ext cx="719137" cy="3395663"/>
          </a:xfrm>
          <a:prstGeom prst="rect">
            <a:avLst/>
          </a:prstGeom>
          <a:solidFill>
            <a:srgbClr val="FFFF99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6420A372-3E77-402E-A578-98761DDFB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54" y="1257276"/>
            <a:ext cx="822325" cy="220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spcAft>
                <a:spcPts val="1200"/>
              </a:spcAft>
              <a:buFont typeface="Times New Roman" panose="02020603050405020304" pitchFamily="18" charset="0"/>
              <a:buNone/>
            </a:pPr>
            <a:r>
              <a:rPr lang="zh-CN" altLang="en-US" sz="1600">
                <a:latin typeface="Trebuchet MS" panose="020B0603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1200">
                <a:latin typeface="Trebuchet MS" panose="020B0603020202020204" pitchFamily="34" charset="0"/>
                <a:ea typeface="宋体" panose="02010600030101010101" pitchFamily="2" charset="-122"/>
              </a:rPr>
              <a:t>RCS 0-0-2</a:t>
            </a: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2FE8F7A4-39E7-49CD-BC80-0EB5845F4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492" y="1706539"/>
            <a:ext cx="315912" cy="771525"/>
          </a:xfrm>
          <a:prstGeom prst="rect">
            <a:avLst/>
          </a:prstGeom>
          <a:solidFill>
            <a:srgbClr val="99FF33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eaVert"/>
          <a:lstStyle>
            <a:lvl1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Aft>
                <a:spcPts val="1200"/>
              </a:spcAft>
              <a:buFont typeface="Times New Roman" panose="02020603050405020304" pitchFamily="18" charset="0"/>
              <a:buNone/>
            </a:pPr>
            <a:r>
              <a:rPr lang="en-US" altLang="zh-CN" sz="1600">
                <a:ea typeface="宋体" panose="02010600030101010101" pitchFamily="2" charset="-122"/>
              </a:rPr>
              <a:t>SPA</a:t>
            </a:r>
            <a:endParaRPr lang="en-US" altLang="zh-CN" sz="1600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112F1802-08F8-448A-8DAE-0ADD69F66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9604" y="1223939"/>
            <a:ext cx="719138" cy="3395662"/>
          </a:xfrm>
          <a:prstGeom prst="rect">
            <a:avLst/>
          </a:prstGeom>
          <a:solidFill>
            <a:srgbClr val="FFFF99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8D2B081E-55EF-4C10-B383-B50653343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3717" y="1277914"/>
            <a:ext cx="822325" cy="220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spcAft>
                <a:spcPts val="1200"/>
              </a:spcAft>
              <a:buFont typeface="Times New Roman" panose="02020603050405020304" pitchFamily="18" charset="0"/>
              <a:buNone/>
            </a:pPr>
            <a:r>
              <a:rPr lang="zh-CN" altLang="en-US" sz="1600">
                <a:latin typeface="Trebuchet MS" panose="020B0603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1200">
                <a:latin typeface="Trebuchet MS" panose="020B0603020202020204" pitchFamily="34" charset="0"/>
                <a:ea typeface="宋体" panose="02010600030101010101" pitchFamily="2" charset="-122"/>
              </a:rPr>
              <a:t>RCS 0-0-9</a:t>
            </a:r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12B84535-1BD2-4927-9A78-D9FC6A2A6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3754" y="1727176"/>
            <a:ext cx="315913" cy="771525"/>
          </a:xfrm>
          <a:prstGeom prst="rect">
            <a:avLst/>
          </a:prstGeom>
          <a:solidFill>
            <a:srgbClr val="99FF33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eaVert"/>
          <a:lstStyle>
            <a:lvl1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Aft>
                <a:spcPts val="1200"/>
              </a:spcAft>
              <a:buFont typeface="Times New Roman" panose="02020603050405020304" pitchFamily="18" charset="0"/>
              <a:buNone/>
            </a:pPr>
            <a:r>
              <a:rPr lang="en-US" altLang="zh-CN" sz="1600">
                <a:ea typeface="宋体" panose="02010600030101010101" pitchFamily="2" charset="-122"/>
              </a:rPr>
              <a:t>SPA</a:t>
            </a:r>
            <a:endParaRPr lang="en-US" altLang="zh-CN" sz="1600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8A06D109-E27C-4088-882D-88CA11460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929" y="1219176"/>
            <a:ext cx="719138" cy="3395663"/>
          </a:xfrm>
          <a:prstGeom prst="rect">
            <a:avLst/>
          </a:prstGeom>
          <a:solidFill>
            <a:srgbClr val="FFFF99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Box 18">
            <a:extLst>
              <a:ext uri="{FF2B5EF4-FFF2-40B4-BE49-F238E27FC236}">
                <a16:creationId xmlns:a16="http://schemas.microsoft.com/office/drawing/2014/main" id="{4EC2AC97-F031-4484-A0E5-E8B00320E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117" y="1273151"/>
            <a:ext cx="884237" cy="220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spcAft>
                <a:spcPts val="1200"/>
              </a:spcAft>
              <a:buFont typeface="Times New Roman" panose="02020603050405020304" pitchFamily="18" charset="0"/>
              <a:buNone/>
            </a:pPr>
            <a:r>
              <a:rPr lang="zh-CN" altLang="en-US" sz="1600">
                <a:latin typeface="Trebuchet MS" panose="020B0603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1200">
                <a:latin typeface="Trebuchet MS" panose="020B0603020202020204" pitchFamily="34" charset="0"/>
                <a:ea typeface="宋体" panose="02010600030101010101" pitchFamily="2" charset="-122"/>
              </a:rPr>
              <a:t>RCS 0-0-10</a:t>
            </a:r>
          </a:p>
        </p:txBody>
      </p:sp>
      <p:sp>
        <p:nvSpPr>
          <p:cNvPr id="21" name="Text Box 19">
            <a:extLst>
              <a:ext uri="{FF2B5EF4-FFF2-40B4-BE49-F238E27FC236}">
                <a16:creationId xmlns:a16="http://schemas.microsoft.com/office/drawing/2014/main" id="{1E0CFAFD-4EAB-464F-9BEC-A8E31CAF2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079" y="1722414"/>
            <a:ext cx="315913" cy="771525"/>
          </a:xfrm>
          <a:prstGeom prst="rect">
            <a:avLst/>
          </a:prstGeom>
          <a:solidFill>
            <a:srgbClr val="99FF33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eaVert"/>
          <a:lstStyle>
            <a:lvl1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Aft>
                <a:spcPts val="1200"/>
              </a:spcAft>
              <a:buFont typeface="Times New Roman" panose="02020603050405020304" pitchFamily="18" charset="0"/>
              <a:buNone/>
            </a:pPr>
            <a:r>
              <a:rPr lang="en-US" altLang="zh-CN" sz="1600">
                <a:ea typeface="宋体" panose="02010600030101010101" pitchFamily="2" charset="-122"/>
              </a:rPr>
              <a:t>SPA</a:t>
            </a:r>
            <a:endParaRPr lang="en-US" altLang="zh-CN" sz="1600">
              <a:latin typeface="Trebuchet MS" panose="020B0603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6345503F-C7C5-44AF-AACF-53DD7E22B495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6917" y="4222726"/>
            <a:ext cx="2617787" cy="15875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23" name="Text Box 21">
            <a:extLst>
              <a:ext uri="{FF2B5EF4-FFF2-40B4-BE49-F238E27FC236}">
                <a16:creationId xmlns:a16="http://schemas.microsoft.com/office/drawing/2014/main" id="{E73E2EDC-7195-4096-8011-309A15027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6929" y="4295751"/>
            <a:ext cx="3238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ts val="1200"/>
              </a:spcAft>
              <a:buFont typeface="Times New Roman" panose="02020603050405020304" pitchFamily="18" charset="0"/>
              <a:buNone/>
            </a:pPr>
            <a:r>
              <a:rPr lang="en-US" altLang="zh-CN" sz="1400">
                <a:solidFill>
                  <a:schemeClr val="hlink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UDP</a:t>
            </a:r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99AC30FF-9104-4819-94E6-8A53DCD93AB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9129" y="2519339"/>
            <a:ext cx="1109663" cy="1019175"/>
          </a:xfrm>
          <a:prstGeom prst="line">
            <a:avLst/>
          </a:prstGeom>
          <a:noFill/>
          <a:ln w="9525">
            <a:solidFill>
              <a:srgbClr val="F70018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27" name="Line 25">
            <a:extLst>
              <a:ext uri="{FF2B5EF4-FFF2-40B4-BE49-F238E27FC236}">
                <a16:creationId xmlns:a16="http://schemas.microsoft.com/office/drawing/2014/main" id="{F1E98AA7-22FA-4F83-AB86-710447C7A84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28529" y="2505051"/>
            <a:ext cx="2109788" cy="1036638"/>
          </a:xfrm>
          <a:prstGeom prst="line">
            <a:avLst/>
          </a:prstGeom>
          <a:noFill/>
          <a:ln w="9525">
            <a:solidFill>
              <a:srgbClr val="F70018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28" name="Line 26">
            <a:extLst>
              <a:ext uri="{FF2B5EF4-FFF2-40B4-BE49-F238E27FC236}">
                <a16:creationId xmlns:a16="http://schemas.microsoft.com/office/drawing/2014/main" id="{A37247F9-E7AB-41E1-BDA5-697F7762EB6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0317" y="2490764"/>
            <a:ext cx="2998787" cy="1046162"/>
          </a:xfrm>
          <a:prstGeom prst="line">
            <a:avLst/>
          </a:prstGeom>
          <a:noFill/>
          <a:ln w="9525">
            <a:solidFill>
              <a:srgbClr val="F70018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A2FB17F-4A1A-4E72-83AB-F9A259465E44}"/>
              </a:ext>
            </a:extLst>
          </p:cNvPr>
          <p:cNvGrpSpPr>
            <a:grpSpLocks/>
          </p:cNvGrpSpPr>
          <p:nvPr/>
        </p:nvGrpSpPr>
        <p:grpSpPr bwMode="auto">
          <a:xfrm>
            <a:off x="5017829" y="1279501"/>
            <a:ext cx="581025" cy="508000"/>
            <a:chOff x="2130" y="3570"/>
            <a:chExt cx="366" cy="32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46FC340-CA8E-4041-8833-0BA076B4A0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0" y="3578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4392975-C5E6-451B-A6E4-20F731BD8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1" y="3579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1FCA08A-0F60-4FAA-814E-6115E86677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7" y="3575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AAE5B03-B091-4558-B53A-94BEF4EE28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0" y="3570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EB7BF4B-A6AD-416E-A62C-89769043C8F4}"/>
              </a:ext>
            </a:extLst>
          </p:cNvPr>
          <p:cNvGrpSpPr>
            <a:grpSpLocks/>
          </p:cNvGrpSpPr>
          <p:nvPr/>
        </p:nvGrpSpPr>
        <p:grpSpPr bwMode="auto">
          <a:xfrm>
            <a:off x="5025767" y="1993876"/>
            <a:ext cx="581025" cy="508000"/>
            <a:chOff x="2130" y="3570"/>
            <a:chExt cx="366" cy="32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1B6E38C-55DE-4569-895D-DD9A7DFA5E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0" y="3578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43DC91C-9804-44D9-96E8-15C2197247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1" y="3579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BC896D2-B5D8-42DE-ABA4-A05216F8EC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7" y="3575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301A13A-07CC-4A1A-B513-C375F1D818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0" y="3570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7AB1E4D-90EE-448E-BD4F-852E99C155D1}"/>
              </a:ext>
            </a:extLst>
          </p:cNvPr>
          <p:cNvGrpSpPr>
            <a:grpSpLocks/>
          </p:cNvGrpSpPr>
          <p:nvPr/>
        </p:nvGrpSpPr>
        <p:grpSpPr bwMode="auto">
          <a:xfrm>
            <a:off x="5043229" y="2681264"/>
            <a:ext cx="581025" cy="508000"/>
            <a:chOff x="2130" y="3570"/>
            <a:chExt cx="366" cy="32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EEC2C1E-4807-4B97-B485-A92504A84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0" y="3578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422CF85-B3D2-4394-B7E8-8D2BBE7DC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1" y="3579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DD6C6D9-91B0-4F6A-AF1C-DDF930A0A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7" y="3575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FADBC03-BF15-47C0-B0AF-DF4C7883EE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0" y="3570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3" name="Line 52">
            <a:extLst>
              <a:ext uri="{FF2B5EF4-FFF2-40B4-BE49-F238E27FC236}">
                <a16:creationId xmlns:a16="http://schemas.microsoft.com/office/drawing/2014/main" id="{C8119B31-CD3A-45F5-87C8-3F05448D6C29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9492" y="1627164"/>
            <a:ext cx="755650" cy="1157287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54" name="Line 53">
            <a:extLst>
              <a:ext uri="{FF2B5EF4-FFF2-40B4-BE49-F238E27FC236}">
                <a16:creationId xmlns:a16="http://schemas.microsoft.com/office/drawing/2014/main" id="{11C53BE1-865E-4607-BD80-1E3FBB37053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03617" y="2347889"/>
            <a:ext cx="779462" cy="78105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55" name="Line 54">
            <a:extLst>
              <a:ext uri="{FF2B5EF4-FFF2-40B4-BE49-F238E27FC236}">
                <a16:creationId xmlns:a16="http://schemas.microsoft.com/office/drawing/2014/main" id="{8B7EDCB4-D6B3-461B-A630-D0855AB2E65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9492" y="3095601"/>
            <a:ext cx="755650" cy="3175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FE8B90E-D987-4DEE-93AE-E4A35EEA7519}"/>
              </a:ext>
            </a:extLst>
          </p:cNvPr>
          <p:cNvSpPr txBox="1"/>
          <p:nvPr/>
        </p:nvSpPr>
        <p:spPr>
          <a:xfrm>
            <a:off x="6639131" y="1752734"/>
            <a:ext cx="1489249" cy="453183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marR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1135"/>
              </a:buClr>
              <a:buSzTx/>
              <a:tabLst/>
            </a:pPr>
            <a:r>
              <a:rPr lang="en-US" altLang="zh-CN" sz="2000" b="1" dirty="0">
                <a:solidFill>
                  <a:schemeClr val="tx2"/>
                </a:solidFill>
                <a:latin typeface="+mn-lt"/>
                <a:ea typeface="Nokia Pure Text" panose="020B0503020202020204" pitchFamily="34" charset="0"/>
                <a:cs typeface="Nokia Pure Headline Light"/>
              </a:rPr>
              <a:t>UDP Client</a:t>
            </a:r>
            <a:endParaRPr lang="zh-CN" altLang="en-US" sz="2000" b="1" dirty="0">
              <a:solidFill>
                <a:schemeClr val="tx2"/>
              </a:solidFill>
              <a:latin typeface="+mn-lt"/>
              <a:ea typeface="Nokia Pure Text" panose="020B0503020202020204" pitchFamily="34" charset="0"/>
              <a:cs typeface="Nokia Pure Headline Light"/>
            </a:endParaRPr>
          </a:p>
        </p:txBody>
      </p:sp>
      <p:sp>
        <p:nvSpPr>
          <p:cNvPr id="64" name="Left Brace 63">
            <a:extLst>
              <a:ext uri="{FF2B5EF4-FFF2-40B4-BE49-F238E27FC236}">
                <a16:creationId xmlns:a16="http://schemas.microsoft.com/office/drawing/2014/main" id="{F21A584D-2959-4CB7-A62E-265C9B3EE1B4}"/>
              </a:ext>
            </a:extLst>
          </p:cNvPr>
          <p:cNvSpPr/>
          <p:nvPr/>
        </p:nvSpPr>
        <p:spPr>
          <a:xfrm rot="16200000">
            <a:off x="6978587" y="2785939"/>
            <a:ext cx="707176" cy="1504920"/>
          </a:xfrm>
          <a:prstGeom prst="leftBrace">
            <a:avLst/>
          </a:prstGeom>
          <a:ln w="31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EEF6FFE-0269-4BCE-B881-B412D5F63C81}"/>
              </a:ext>
            </a:extLst>
          </p:cNvPr>
          <p:cNvSpPr txBox="1"/>
          <p:nvPr/>
        </p:nvSpPr>
        <p:spPr>
          <a:xfrm>
            <a:off x="6579715" y="3184810"/>
            <a:ext cx="1504920" cy="309600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 algn="ctr">
              <a:spcAft>
                <a:spcPts val="300"/>
              </a:spcAft>
              <a:buSzPct val="100000"/>
            </a:pPr>
            <a:r>
              <a:rPr lang="en-US" altLang="zh-CN" sz="1200" b="1" dirty="0">
                <a:solidFill>
                  <a:schemeClr val="tx2"/>
                </a:solidFill>
              </a:rPr>
              <a:t>833541320009…</a:t>
            </a:r>
            <a:endParaRPr lang="zh-CN" altLang="en-US" sz="1200" b="1" dirty="0">
              <a:solidFill>
                <a:schemeClr val="tx2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A071B51-C53F-4892-AD5C-C4702C1C3254}"/>
              </a:ext>
            </a:extLst>
          </p:cNvPr>
          <p:cNvGrpSpPr>
            <a:grpSpLocks/>
          </p:cNvGrpSpPr>
          <p:nvPr/>
        </p:nvGrpSpPr>
        <p:grpSpPr bwMode="auto">
          <a:xfrm>
            <a:off x="5049579" y="3375091"/>
            <a:ext cx="581025" cy="508000"/>
            <a:chOff x="2130" y="3570"/>
            <a:chExt cx="366" cy="32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8240768-5C28-46C6-AEE7-E17B4719CF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0" y="3578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C25EFFE-F4CF-40F5-BBC9-2842100A1A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1" y="3579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E61DAD0-1C53-470E-811F-ADCD9D089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7" y="3575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D9814ED-602B-4CD9-AF8A-15F46AEFCB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0" y="3570"/>
              <a:ext cx="56" cy="311"/>
            </a:xfrm>
            <a:prstGeom prst="rect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1" name="Line 55">
            <a:extLst>
              <a:ext uri="{FF2B5EF4-FFF2-40B4-BE49-F238E27FC236}">
                <a16:creationId xmlns:a16="http://schemas.microsoft.com/office/drawing/2014/main" id="{56E6AF25-E550-4CDE-A4F0-E50428DCA3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27429" y="3648141"/>
            <a:ext cx="773113" cy="762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62" name="Rectangle 8">
            <a:extLst>
              <a:ext uri="{FF2B5EF4-FFF2-40B4-BE49-F238E27FC236}">
                <a16:creationId xmlns:a16="http://schemas.microsoft.com/office/drawing/2014/main" id="{82CB74F6-2C44-4746-BCFD-D1F30B422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8054" y="4092599"/>
            <a:ext cx="1143000" cy="420687"/>
          </a:xfrm>
          <a:prstGeom prst="rect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 dirty="0"/>
          </a:p>
        </p:txBody>
      </p:sp>
      <p:sp>
        <p:nvSpPr>
          <p:cNvPr id="67" name="Text Box 9">
            <a:extLst>
              <a:ext uri="{FF2B5EF4-FFF2-40B4-BE49-F238E27FC236}">
                <a16:creationId xmlns:a16="http://schemas.microsoft.com/office/drawing/2014/main" id="{95F3606D-B490-4EF9-A21A-4F14BEAAF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7069" y="4152609"/>
            <a:ext cx="68768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9465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ts val="1200"/>
              </a:spcAft>
              <a:buFont typeface="Times New Roman" panose="02020603050405020304" pitchFamily="18" charset="0"/>
              <a:buNone/>
            </a:pPr>
            <a:r>
              <a:rPr lang="en-US" altLang="zh-CN" sz="1800" dirty="0">
                <a:solidFill>
                  <a:schemeClr val="hlink"/>
                </a:solidFill>
                <a:latin typeface="Trebuchet MS" panose="020B0603020202020204" pitchFamily="34" charset="0"/>
                <a:ea typeface="宋体" panose="02010600030101010101" pitchFamily="2" charset="-122"/>
              </a:rPr>
              <a:t>sim2s7</a:t>
            </a:r>
          </a:p>
        </p:txBody>
      </p:sp>
    </p:spTree>
    <p:extLst>
      <p:ext uri="{BB962C8B-B14F-4D97-AF65-F5344CB8AC3E}">
        <p14:creationId xmlns:p14="http://schemas.microsoft.com/office/powerpoint/2010/main" val="3375489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2C0818-B4E8-40B1-A921-9F21E0AA2A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B0FFB-D006-41CB-AB92-0AE5662CEF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Solution:</a:t>
            </a:r>
            <a:r>
              <a:rPr lang="zh-CN" altLang="en-US" dirty="0"/>
              <a:t> </a:t>
            </a:r>
            <a:r>
              <a:rPr lang="en-US" altLang="zh-CN" dirty="0"/>
              <a:t>sim2s7/sim2s7.py</a:t>
            </a:r>
            <a:endParaRPr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4B81C3-2C78-422D-A4B2-8C8DE58E9CE0}"/>
              </a:ext>
            </a:extLst>
          </p:cNvPr>
          <p:cNvSpPr txBox="1"/>
          <p:nvPr/>
        </p:nvSpPr>
        <p:spPr>
          <a:xfrm>
            <a:off x="417599" y="1209600"/>
            <a:ext cx="8126326" cy="3524250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r>
              <a:rPr lang="en-US" altLang="zh-CN" sz="2000" dirty="0"/>
              <a:t>1. /cs/</a:t>
            </a:r>
            <a:r>
              <a:rPr lang="en-US" altLang="zh-CN" sz="2000" dirty="0" err="1"/>
              <a:t>sn</a:t>
            </a:r>
            <a:r>
              <a:rPr lang="en-US" altLang="zh-CN" sz="2000" dirty="0"/>
              <a:t>/</a:t>
            </a:r>
            <a:r>
              <a:rPr lang="en-US" altLang="zh-CN" sz="2000" dirty="0" err="1"/>
              <a:t>utest</a:t>
            </a:r>
            <a:r>
              <a:rPr lang="en-US" altLang="zh-CN" sz="2000" dirty="0"/>
              <a:t>/s7sch/sim2s7, </a:t>
            </a:r>
          </a:p>
          <a:p>
            <a:r>
              <a:rPr lang="en-US" altLang="zh-CN" sz="2000" dirty="0"/>
              <a:t>  http://inu.ih.lucent.com/~ss7team/sim2s7/QIP.html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2. </a:t>
            </a:r>
            <a:r>
              <a:rPr lang="en-US" altLang="zh-CN" sz="2000" b="1" dirty="0"/>
              <a:t>New developed: sim2s7.py </a:t>
            </a:r>
          </a:p>
          <a:p>
            <a:r>
              <a:rPr lang="en-US" altLang="zh-CN" sz="2000" b="1" dirty="0"/>
              <a:t>    New designed state machine format: &lt;state&gt;.json</a:t>
            </a:r>
          </a:p>
          <a:p>
            <a:endParaRPr lang="en-US" altLang="zh-CN" sz="2000" dirty="0"/>
          </a:p>
          <a:p>
            <a:r>
              <a:rPr lang="en-US" altLang="zh-CN" sz="2000" dirty="0"/>
              <a:t>	</a:t>
            </a:r>
            <a:r>
              <a:rPr lang="en-US" altLang="zh-CN" dirty="0"/>
              <a:t>sim2s7.py --</a:t>
            </a:r>
            <a:r>
              <a:rPr lang="en-US" altLang="zh-CN" dirty="0" err="1"/>
              <a:t>mcas_host</a:t>
            </a:r>
            <a:r>
              <a:rPr lang="en-US" altLang="zh-CN" dirty="0"/>
              <a:t>=135.242.107.153 --state=</a:t>
            </a:r>
            <a:r>
              <a:rPr lang="en-US" altLang="zh-CN" dirty="0">
                <a:hlinkClick r:id="rId3"/>
              </a:rPr>
              <a:t>vfq_cml_og_v3.json</a:t>
            </a:r>
            <a:endParaRPr lang="en-US" altLang="zh-CN" dirty="0"/>
          </a:p>
          <a:p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409374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2C0818-B4E8-40B1-A921-9F21E0AA2A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&lt;state&gt;.json DOM view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B0FFB-D006-41CB-AB92-0AE5662CEF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Solution:</a:t>
            </a:r>
            <a:r>
              <a:rPr lang="zh-CN" altLang="en-US" dirty="0"/>
              <a:t> </a:t>
            </a:r>
            <a:r>
              <a:rPr lang="en-US" altLang="zh-CN" dirty="0"/>
              <a:t>sim2s7/sim2s7.py (Cont.)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FD8619-2A2E-4430-A10B-67ECC4F4DC25}"/>
              </a:ext>
            </a:extLst>
          </p:cNvPr>
          <p:cNvSpPr/>
          <p:nvPr/>
        </p:nvSpPr>
        <p:spPr>
          <a:xfrm>
            <a:off x="3148641" y="751439"/>
            <a:ext cx="1923690" cy="448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300"/>
              </a:spcAft>
              <a:buSzPct val="100000"/>
            </a:pPr>
            <a:r>
              <a:rPr lang="en-US" altLang="zh-CN" sz="2000" b="1" dirty="0">
                <a:solidFill>
                  <a:schemeClr val="tx2"/>
                </a:solidFill>
              </a:rPr>
              <a:t>Document</a:t>
            </a:r>
            <a:endParaRPr lang="zh-CN" altLang="en-US" sz="1200" b="1" dirty="0">
              <a:solidFill>
                <a:schemeClr val="tx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5F4666-F774-4138-8477-81104B467FCF}"/>
              </a:ext>
            </a:extLst>
          </p:cNvPr>
          <p:cNvSpPr/>
          <p:nvPr/>
        </p:nvSpPr>
        <p:spPr>
          <a:xfrm>
            <a:off x="3148641" y="1454994"/>
            <a:ext cx="1923690" cy="448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300"/>
              </a:spcAft>
              <a:buSzPct val="100000"/>
            </a:pPr>
            <a:r>
              <a:rPr lang="en-US" altLang="zh-CN" sz="2000" b="1" dirty="0">
                <a:solidFill>
                  <a:schemeClr val="tx2"/>
                </a:solidFill>
              </a:rPr>
              <a:t>Root</a:t>
            </a:r>
            <a:endParaRPr lang="zh-CN" altLang="en-US" sz="1200" b="1" dirty="0">
              <a:solidFill>
                <a:schemeClr val="tx2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41ACA9-EFE1-4655-A970-45003A8FB27C}"/>
              </a:ext>
            </a:extLst>
          </p:cNvPr>
          <p:cNvCxnSpPr>
            <a:cxnSpLocks/>
          </p:cNvCxnSpPr>
          <p:nvPr/>
        </p:nvCxnSpPr>
        <p:spPr>
          <a:xfrm>
            <a:off x="4110487" y="1846055"/>
            <a:ext cx="0" cy="215664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577B114-2E8A-4552-9F36-A867AF6F8166}"/>
              </a:ext>
            </a:extLst>
          </p:cNvPr>
          <p:cNvCxnSpPr>
            <a:cxnSpLocks/>
          </p:cNvCxnSpPr>
          <p:nvPr/>
        </p:nvCxnSpPr>
        <p:spPr>
          <a:xfrm>
            <a:off x="1558513" y="2143180"/>
            <a:ext cx="5612921" cy="1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7A7F439-9B21-4485-B81B-0116D908D5B9}"/>
              </a:ext>
            </a:extLst>
          </p:cNvPr>
          <p:cNvSpPr/>
          <p:nvPr/>
        </p:nvSpPr>
        <p:spPr>
          <a:xfrm>
            <a:off x="398261" y="2505493"/>
            <a:ext cx="2320505" cy="448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300"/>
              </a:spcAft>
              <a:buSzPct val="100000"/>
            </a:pPr>
            <a:r>
              <a:rPr lang="en-US" altLang="zh-CN" b="1" dirty="0" err="1">
                <a:solidFill>
                  <a:schemeClr val="tx2"/>
                </a:solidFill>
              </a:rPr>
              <a:t>sigstd</a:t>
            </a:r>
            <a:r>
              <a:rPr lang="en-US" altLang="zh-CN" b="1" dirty="0">
                <a:solidFill>
                  <a:schemeClr val="tx2"/>
                </a:solidFill>
              </a:rPr>
              <a:t>: "CCITT-SS7"</a:t>
            </a:r>
            <a:endParaRPr lang="zh-CN" altLang="en-US" sz="1100" b="1" dirty="0">
              <a:solidFill>
                <a:schemeClr val="tx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3586E2-8CEE-4121-8483-6DC5E6C632FF}"/>
              </a:ext>
            </a:extLst>
          </p:cNvPr>
          <p:cNvSpPr/>
          <p:nvPr/>
        </p:nvSpPr>
        <p:spPr>
          <a:xfrm>
            <a:off x="3380840" y="2505494"/>
            <a:ext cx="1470803" cy="448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300"/>
              </a:spcAft>
              <a:buSzPct val="100000"/>
            </a:pPr>
            <a:r>
              <a:rPr lang="en-US" altLang="zh-CN" sz="2000" b="1" dirty="0">
                <a:solidFill>
                  <a:schemeClr val="tx2"/>
                </a:solidFill>
              </a:rPr>
              <a:t>database</a:t>
            </a:r>
            <a:endParaRPr lang="zh-CN" altLang="en-US" sz="1200" b="1" dirty="0">
              <a:solidFill>
                <a:schemeClr val="tx2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304C97-13D8-490C-AF0B-231FBEF06DEF}"/>
              </a:ext>
            </a:extLst>
          </p:cNvPr>
          <p:cNvSpPr/>
          <p:nvPr/>
        </p:nvSpPr>
        <p:spPr>
          <a:xfrm>
            <a:off x="6436033" y="2505493"/>
            <a:ext cx="1470803" cy="448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300"/>
              </a:spcAft>
              <a:buSzPct val="100000"/>
            </a:pPr>
            <a:r>
              <a:rPr lang="en-US" altLang="zh-CN" sz="2000" b="1" dirty="0">
                <a:solidFill>
                  <a:schemeClr val="tx2"/>
                </a:solidFill>
              </a:rPr>
              <a:t>states</a:t>
            </a:r>
            <a:endParaRPr lang="zh-CN" altLang="en-US" sz="1200" b="1" dirty="0">
              <a:solidFill>
                <a:schemeClr val="tx2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C8A19A3-805E-45DC-A83B-216964CC4C30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4110486" y="1200012"/>
            <a:ext cx="0" cy="25498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C7FD974-9900-49B4-A13C-283F85DB662D}"/>
              </a:ext>
            </a:extLst>
          </p:cNvPr>
          <p:cNvCxnSpPr/>
          <p:nvPr/>
        </p:nvCxnSpPr>
        <p:spPr>
          <a:xfrm>
            <a:off x="4110487" y="2061719"/>
            <a:ext cx="0" cy="443775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07D2CB6F-BD97-477B-B103-861967CBCE11}"/>
              </a:ext>
            </a:extLst>
          </p:cNvPr>
          <p:cNvSpPr/>
          <p:nvPr/>
        </p:nvSpPr>
        <p:spPr>
          <a:xfrm>
            <a:off x="2950234" y="3405496"/>
            <a:ext cx="2320505" cy="9865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300"/>
              </a:spcAft>
              <a:buSzPct val="100000"/>
            </a:pPr>
            <a:r>
              <a:rPr lang="en-US" altLang="zh-CN" b="1" dirty="0" err="1">
                <a:solidFill>
                  <a:schemeClr val="tx2"/>
                </a:solidFill>
              </a:rPr>
              <a:t>rk</a:t>
            </a:r>
            <a:r>
              <a:rPr lang="en-US" altLang="zh-CN" b="1" dirty="0">
                <a:solidFill>
                  <a:schemeClr val="tx2"/>
                </a:solidFill>
              </a:rPr>
              <a:t>: 004E</a:t>
            </a:r>
          </a:p>
          <a:p>
            <a:pPr>
              <a:spcAft>
                <a:spcPts val="300"/>
              </a:spcAft>
              <a:buSzPct val="100000"/>
            </a:pPr>
            <a:r>
              <a:rPr lang="en-US" altLang="zh-CN" b="1" dirty="0">
                <a:solidFill>
                  <a:schemeClr val="tx2"/>
                </a:solidFill>
              </a:rPr>
              <a:t>…</a:t>
            </a:r>
          </a:p>
          <a:p>
            <a:pPr>
              <a:spcAft>
                <a:spcPts val="300"/>
              </a:spcAft>
              <a:buSzPct val="100000"/>
            </a:pPr>
            <a:r>
              <a:rPr lang="en-US" altLang="zh-CN" b="1" dirty="0">
                <a:solidFill>
                  <a:schemeClr val="tx2"/>
                </a:solidFill>
              </a:rPr>
              <a:t>calling: 39340048</a:t>
            </a:r>
            <a:endParaRPr lang="zh-CN" altLang="en-US" sz="1100" b="1" dirty="0">
              <a:solidFill>
                <a:schemeClr val="tx2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429C327-1064-4566-B061-2406690F98F5}"/>
              </a:ext>
            </a:extLst>
          </p:cNvPr>
          <p:cNvSpPr/>
          <p:nvPr/>
        </p:nvSpPr>
        <p:spPr>
          <a:xfrm>
            <a:off x="5377139" y="3416058"/>
            <a:ext cx="3588589" cy="92302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endParaRPr lang="zh-CN" altLang="en-US" sz="12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62CA6AA-F3EC-42DB-B162-7583D2BC3082}"/>
              </a:ext>
            </a:extLst>
          </p:cNvPr>
          <p:cNvSpPr/>
          <p:nvPr/>
        </p:nvSpPr>
        <p:spPr>
          <a:xfrm>
            <a:off x="5492879" y="3656804"/>
            <a:ext cx="718148" cy="448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300"/>
              </a:spcAft>
              <a:buSzPct val="100000"/>
            </a:pPr>
            <a:r>
              <a:rPr lang="en-US" altLang="zh-CN" b="1" dirty="0">
                <a:solidFill>
                  <a:schemeClr val="tx2"/>
                </a:solidFill>
              </a:rPr>
              <a:t>IDP</a:t>
            </a:r>
            <a:endParaRPr lang="zh-CN" altLang="en-US" sz="1200" b="1" dirty="0">
              <a:solidFill>
                <a:schemeClr val="tx2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994D474-EA8E-4547-A9CC-F5F5F64DF53B}"/>
              </a:ext>
            </a:extLst>
          </p:cNvPr>
          <p:cNvSpPr/>
          <p:nvPr/>
        </p:nvSpPr>
        <p:spPr>
          <a:xfrm>
            <a:off x="8147660" y="3656804"/>
            <a:ext cx="718148" cy="448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300"/>
              </a:spcAft>
              <a:buSzPct val="100000"/>
            </a:pPr>
            <a:r>
              <a:rPr lang="en-US" altLang="zh-CN" b="1" dirty="0">
                <a:solidFill>
                  <a:schemeClr val="tx2"/>
                </a:solidFill>
              </a:rPr>
              <a:t>REL</a:t>
            </a:r>
            <a:endParaRPr lang="zh-CN" altLang="en-US" sz="1200" b="1" dirty="0">
              <a:solidFill>
                <a:schemeClr val="tx2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6A942AD-8E34-4707-AFBB-A8ADE63540B1}"/>
              </a:ext>
            </a:extLst>
          </p:cNvPr>
          <p:cNvSpPr/>
          <p:nvPr/>
        </p:nvSpPr>
        <p:spPr>
          <a:xfrm>
            <a:off x="6453286" y="3656803"/>
            <a:ext cx="718148" cy="448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300"/>
              </a:spcAft>
              <a:buSzPct val="100000"/>
            </a:pPr>
            <a:r>
              <a:rPr lang="en-US" altLang="zh-CN" b="1" dirty="0">
                <a:solidFill>
                  <a:schemeClr val="tx2"/>
                </a:solidFill>
              </a:rPr>
              <a:t>RRB</a:t>
            </a:r>
            <a:endParaRPr lang="zh-CN" altLang="en-US" sz="1200" b="1" dirty="0">
              <a:solidFill>
                <a:schemeClr val="tx2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178C56F-6F77-4215-91BA-DE1A28125414}"/>
              </a:ext>
            </a:extLst>
          </p:cNvPr>
          <p:cNvSpPr/>
          <p:nvPr/>
        </p:nvSpPr>
        <p:spPr>
          <a:xfrm>
            <a:off x="7442810" y="3656804"/>
            <a:ext cx="433473" cy="4485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300"/>
              </a:spcAft>
              <a:buSzPct val="100000"/>
            </a:pPr>
            <a:r>
              <a:rPr lang="en-US" altLang="zh-CN" b="1" dirty="0">
                <a:solidFill>
                  <a:schemeClr val="tx2"/>
                </a:solidFill>
              </a:rPr>
              <a:t>…</a:t>
            </a:r>
            <a:endParaRPr lang="zh-CN" altLang="en-US" sz="1200" b="1" dirty="0">
              <a:solidFill>
                <a:schemeClr val="tx2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CBB85C4-7E2E-4B84-BF57-67497F8476A8}"/>
              </a:ext>
            </a:extLst>
          </p:cNvPr>
          <p:cNvCxnSpPr>
            <a:stCxn id="26" idx="3"/>
            <a:endCxn id="29" idx="1"/>
          </p:cNvCxnSpPr>
          <p:nvPr/>
        </p:nvCxnSpPr>
        <p:spPr>
          <a:xfrm flipV="1">
            <a:off x="6211027" y="3881090"/>
            <a:ext cx="242259" cy="1"/>
          </a:xfrm>
          <a:prstGeom prst="straightConnector1">
            <a:avLst/>
          </a:prstGeom>
          <a:ln w="31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86E0965-3047-4D1C-B87C-92751E28597A}"/>
              </a:ext>
            </a:extLst>
          </p:cNvPr>
          <p:cNvCxnSpPr>
            <a:stCxn id="29" idx="3"/>
            <a:endCxn id="30" idx="1"/>
          </p:cNvCxnSpPr>
          <p:nvPr/>
        </p:nvCxnSpPr>
        <p:spPr>
          <a:xfrm>
            <a:off x="7171434" y="3881090"/>
            <a:ext cx="271376" cy="0"/>
          </a:xfrm>
          <a:prstGeom prst="straightConnector1">
            <a:avLst/>
          </a:prstGeom>
          <a:ln w="31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ACA4A41-6B95-4EDA-9CF8-145768352D57}"/>
              </a:ext>
            </a:extLst>
          </p:cNvPr>
          <p:cNvCxnSpPr>
            <a:stCxn id="30" idx="3"/>
            <a:endCxn id="28" idx="1"/>
          </p:cNvCxnSpPr>
          <p:nvPr/>
        </p:nvCxnSpPr>
        <p:spPr>
          <a:xfrm>
            <a:off x="7876283" y="3881090"/>
            <a:ext cx="271377" cy="1"/>
          </a:xfrm>
          <a:prstGeom prst="straightConnector1">
            <a:avLst/>
          </a:prstGeom>
          <a:ln w="31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7206274-308F-43CB-9231-A881ED679F6C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1558513" y="2143180"/>
            <a:ext cx="1" cy="362313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70CD3FC-F803-480B-99BE-8FFD7A3E5014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7171434" y="2143180"/>
            <a:ext cx="1" cy="362313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8B0EEEC-6995-4BEC-84FB-6365DA896DB3}"/>
              </a:ext>
            </a:extLst>
          </p:cNvPr>
          <p:cNvCxnSpPr>
            <a:cxnSpLocks/>
            <a:stCxn id="12" idx="2"/>
            <a:endCxn id="24" idx="0"/>
          </p:cNvCxnSpPr>
          <p:nvPr/>
        </p:nvCxnSpPr>
        <p:spPr>
          <a:xfrm flipH="1">
            <a:off x="4110487" y="2954067"/>
            <a:ext cx="5755" cy="451429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14183DC-7084-4AE4-9B66-549F570EAFE8}"/>
              </a:ext>
            </a:extLst>
          </p:cNvPr>
          <p:cNvCxnSpPr>
            <a:stCxn id="13" idx="2"/>
            <a:endCxn id="25" idx="0"/>
          </p:cNvCxnSpPr>
          <p:nvPr/>
        </p:nvCxnSpPr>
        <p:spPr>
          <a:xfrm flipH="1">
            <a:off x="7171434" y="2954066"/>
            <a:ext cx="1" cy="461992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51CC2A9A-B96B-4870-BCBA-2DA0114C38D2}"/>
              </a:ext>
            </a:extLst>
          </p:cNvPr>
          <p:cNvSpPr txBox="1"/>
          <p:nvPr/>
        </p:nvSpPr>
        <p:spPr>
          <a:xfrm>
            <a:off x="1204827" y="4433970"/>
            <a:ext cx="7098101" cy="448567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>
              <a:spcAft>
                <a:spcPts val="300"/>
              </a:spcAft>
              <a:buSzPct val="100000"/>
            </a:pPr>
            <a:r>
              <a:rPr lang="en-US" altLang="zh-CN" sz="1600" b="1" dirty="0">
                <a:solidFill>
                  <a:schemeClr val="tx2"/>
                </a:solidFill>
              </a:rPr>
              <a:t>Example: </a:t>
            </a:r>
            <a:r>
              <a:rPr lang="en-US" altLang="zh-CN" sz="1600" b="1" dirty="0">
                <a:hlinkClick r:id="rId3"/>
              </a:rPr>
              <a:t>inuweb.ih.lucent.com/~</a:t>
            </a:r>
            <a:r>
              <a:rPr lang="en-US" altLang="zh-CN" sz="1600" b="1" dirty="0" err="1">
                <a:hlinkClick r:id="rId3"/>
              </a:rPr>
              <a:t>hongwehl</a:t>
            </a:r>
            <a:r>
              <a:rPr lang="en-US" altLang="zh-CN" sz="1600" b="1" dirty="0">
                <a:hlinkClick r:id="rId3"/>
              </a:rPr>
              <a:t>/sim2s7/vfq_cml_og_v3.json</a:t>
            </a:r>
            <a:endParaRPr lang="zh-CN" altLang="en-US" sz="16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258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EB6DA8-EEAE-4337-9E57-95DC13409D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6F4528-E4D0-43DB-8DBB-14F6AC6560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D66184-666F-4F59-88CD-144F8E8AA4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5908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E49217-D008-4C81-A6F3-321118126B65}"/>
              </a:ext>
            </a:extLst>
          </p:cNvPr>
          <p:cNvSpPr txBox="1"/>
          <p:nvPr/>
        </p:nvSpPr>
        <p:spPr>
          <a:xfrm>
            <a:off x="3428214" y="1101510"/>
            <a:ext cx="5298186" cy="1280160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r>
              <a:rPr lang="en-US" altLang="zh-CN" sz="4000" b="1" dirty="0">
                <a:solidFill>
                  <a:schemeClr val="tx2"/>
                </a:solidFill>
              </a:rPr>
              <a:t>&lt;state&gt;.json example</a:t>
            </a:r>
            <a:endParaRPr lang="zh-CN" altLang="en-US" sz="40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213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2C615A1-5E21-43C8-B611-837ABD35F1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disadvantage: raw messages</a:t>
            </a:r>
          </a:p>
          <a:p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406CFA-2F0B-462F-B49D-A3572B58CB0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Solution:</a:t>
            </a:r>
            <a:r>
              <a:rPr lang="zh-CN" altLang="en-US" dirty="0"/>
              <a:t> </a:t>
            </a:r>
            <a:r>
              <a:rPr lang="en-US" altLang="zh-CN" dirty="0"/>
              <a:t>sim2s7/sim2s7.py</a:t>
            </a:r>
            <a:endParaRPr lang="zh-CN" altLang="en-US" dirty="0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9723E888-0DF1-4FFC-9C56-099C4521C32A}"/>
              </a:ext>
            </a:extLst>
          </p:cNvPr>
          <p:cNvSpPr txBox="1">
            <a:spLocks/>
          </p:cNvSpPr>
          <p:nvPr/>
        </p:nvSpPr>
        <p:spPr>
          <a:xfrm>
            <a:off x="3047702" y="1763696"/>
            <a:ext cx="4720236" cy="176671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/>
              <a:t>1. NOT easy to edit messages in state machine json file, nor read it</a:t>
            </a:r>
          </a:p>
          <a:p>
            <a:endParaRPr lang="en-US" altLang="zh-CN" sz="2000" dirty="0"/>
          </a:p>
          <a:p>
            <a:r>
              <a:rPr lang="en-US" altLang="zh-CN" sz="2000" dirty="0"/>
              <a:t>2. NOT easy to debug, because sent/received messages are in raw hex</a:t>
            </a:r>
          </a:p>
          <a:p>
            <a:pPr marL="0" indent="0">
              <a:buNone/>
            </a:pPr>
            <a:endParaRPr lang="en-US" altLang="zh-CN" sz="1200" dirty="0"/>
          </a:p>
          <a:p>
            <a:endParaRPr lang="en-US" altLang="zh-C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0D8542-6107-4A54-8C99-0510AEA18D8C}"/>
              </a:ext>
            </a:extLst>
          </p:cNvPr>
          <p:cNvSpPr txBox="1"/>
          <p:nvPr/>
        </p:nvSpPr>
        <p:spPr>
          <a:xfrm>
            <a:off x="7401132" y="3266255"/>
            <a:ext cx="1244814" cy="1596445"/>
          </a:xfrm>
          <a:prstGeom prst="rect">
            <a:avLst/>
          </a:prstGeom>
        </p:spPr>
        <p:txBody>
          <a:bodyPr lIns="0" tIns="0" rIns="0" bIns="0" rtlCol="0">
            <a:normAutofit/>
          </a:bodyPr>
          <a:lstStyle/>
          <a:p>
            <a:pPr>
              <a:spcAft>
                <a:spcPts val="600"/>
              </a:spcAft>
              <a:buClr>
                <a:srgbClr val="001135"/>
              </a:buClr>
            </a:pPr>
            <a:r>
              <a:rPr lang="zh-CN" altLang="en-US" sz="8000" dirty="0">
                <a:solidFill>
                  <a:srgbClr val="FF0000"/>
                </a:solidFill>
                <a:latin typeface="+mn-lt"/>
              </a:rPr>
              <a:t>👎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D29E63-053F-4484-BF6A-0420F97EB99E}"/>
              </a:ext>
            </a:extLst>
          </p:cNvPr>
          <p:cNvSpPr txBox="1"/>
          <p:nvPr/>
        </p:nvSpPr>
        <p:spPr>
          <a:xfrm>
            <a:off x="536724" y="900000"/>
            <a:ext cx="2130726" cy="378920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1"/>
            </a:solidFill>
          </a:ln>
        </p:spPr>
        <p:txBody>
          <a:bodyPr wrap="square" lIns="72000" tIns="72000" rIns="72000" bIns="72000" rtlCol="0">
            <a:noAutofit/>
          </a:bodyPr>
          <a:lstStyle/>
          <a:p>
            <a:pPr algn="dist">
              <a:spcAft>
                <a:spcPts val="300"/>
              </a:spcAft>
              <a:buSzPct val="100000"/>
            </a:pPr>
            <a:r>
              <a:rPr lang="en-US" altLang="zh-CN" b="1" dirty="0">
                <a:solidFill>
                  <a:schemeClr val="tx2"/>
                </a:solidFill>
              </a:rPr>
              <a:t>00 00 00 01 00 06 </a:t>
            </a:r>
          </a:p>
          <a:p>
            <a:pPr algn="dist">
              <a:spcAft>
                <a:spcPts val="300"/>
              </a:spcAft>
              <a:buSzPct val="100000"/>
            </a:pPr>
            <a:r>
              <a:rPr lang="en-US" altLang="zh-CN" b="1" dirty="0">
                <a:solidFill>
                  <a:schemeClr val="tx2"/>
                </a:solidFill>
              </a:rPr>
              <a:t>45 00 00 DB 00 00 </a:t>
            </a:r>
          </a:p>
          <a:p>
            <a:pPr algn="dist">
              <a:spcAft>
                <a:spcPts val="300"/>
              </a:spcAft>
              <a:buSzPct val="100000"/>
            </a:pPr>
            <a:r>
              <a:rPr lang="en-US" altLang="zh-CN" b="1" dirty="0">
                <a:solidFill>
                  <a:schemeClr val="tx2"/>
                </a:solidFill>
              </a:rPr>
              <a:t>C0 A8 01 1A AB BD </a:t>
            </a:r>
          </a:p>
          <a:p>
            <a:pPr algn="dist">
              <a:spcAft>
                <a:spcPts val="300"/>
              </a:spcAft>
              <a:buSzPct val="100000"/>
            </a:pPr>
            <a:r>
              <a:rPr lang="en-US" altLang="zh-CN" b="1" dirty="0">
                <a:solidFill>
                  <a:schemeClr val="tx2"/>
                </a:solidFill>
              </a:rPr>
              <a:t>00 09 80 03 07 14 </a:t>
            </a:r>
          </a:p>
          <a:p>
            <a:pPr algn="dist">
              <a:spcAft>
                <a:spcPts val="300"/>
              </a:spcAft>
              <a:buSzPct val="100000"/>
            </a:pPr>
            <a:r>
              <a:rPr lang="en-US" altLang="zh-CN" b="1" dirty="0">
                <a:solidFill>
                  <a:schemeClr val="tx2"/>
                </a:solidFill>
              </a:rPr>
              <a:t>00 00 80 79 74 97 </a:t>
            </a:r>
          </a:p>
          <a:p>
            <a:pPr algn="dist">
              <a:spcAft>
                <a:spcPts val="300"/>
              </a:spcAft>
              <a:buSzPct val="100000"/>
            </a:pPr>
            <a:r>
              <a:rPr lang="en-US" altLang="zh-CN" b="1" dirty="0">
                <a:solidFill>
                  <a:schemeClr val="tx2"/>
                </a:solidFill>
              </a:rPr>
              <a:t>00 00 00 6B 2D 28 </a:t>
            </a:r>
          </a:p>
          <a:p>
            <a:pPr algn="dist">
              <a:spcAft>
                <a:spcPts val="300"/>
              </a:spcAft>
              <a:buSzPct val="100000"/>
            </a:pPr>
            <a:r>
              <a:rPr lang="en-US" altLang="zh-CN" b="1" dirty="0">
                <a:solidFill>
                  <a:schemeClr val="tx2"/>
                </a:solidFill>
              </a:rPr>
              <a:t>A0 20 60 1E 80 02 </a:t>
            </a:r>
          </a:p>
          <a:p>
            <a:pPr algn="dist">
              <a:spcAft>
                <a:spcPts val="300"/>
              </a:spcAft>
              <a:buSzPct val="100000"/>
            </a:pPr>
            <a:r>
              <a:rPr lang="en-US" altLang="zh-CN" b="1" dirty="0">
                <a:solidFill>
                  <a:schemeClr val="tx2"/>
                </a:solidFill>
              </a:rPr>
              <a:t>00 32 01 BE 0D 28 </a:t>
            </a:r>
          </a:p>
          <a:p>
            <a:pPr algn="dist">
              <a:spcAft>
                <a:spcPts val="300"/>
              </a:spcAft>
              <a:buSzPct val="100000"/>
            </a:pPr>
            <a:r>
              <a:rPr lang="en-US" altLang="zh-CN" b="1" dirty="0">
                <a:solidFill>
                  <a:schemeClr val="tx2"/>
                </a:solidFill>
              </a:rPr>
              <a:t>05 7B 6C 67 A1 65 </a:t>
            </a:r>
          </a:p>
          <a:p>
            <a:pPr algn="dist">
              <a:spcAft>
                <a:spcPts val="300"/>
              </a:spcAft>
              <a:buSzPct val="100000"/>
            </a:pPr>
            <a:r>
              <a:rPr lang="en-US" altLang="zh-CN" b="1" dirty="0">
                <a:solidFill>
                  <a:schemeClr val="tx2"/>
                </a:solidFill>
              </a:rPr>
              <a:t>00 00 00 47 83 08 </a:t>
            </a:r>
          </a:p>
          <a:p>
            <a:pPr algn="dist">
              <a:spcAft>
                <a:spcPts val="300"/>
              </a:spcAft>
              <a:buSzPct val="100000"/>
            </a:pPr>
            <a:r>
              <a:rPr lang="en-US" altLang="zh-CN" b="1" dirty="0">
                <a:solidFill>
                  <a:schemeClr val="tx2"/>
                </a:solidFill>
              </a:rPr>
              <a:t>00 00 31 17 88 70 </a:t>
            </a:r>
          </a:p>
          <a:p>
            <a:pPr algn="dist">
              <a:spcAft>
                <a:spcPts val="300"/>
              </a:spcAft>
              <a:buSzPct val="100000"/>
            </a:pPr>
            <a:r>
              <a:rPr lang="en-US" altLang="zh-CN" b="1" dirty="0">
                <a:solidFill>
                  <a:schemeClr val="tx2"/>
                </a:solidFill>
              </a:rPr>
              <a:t>80 90 9C 01 02 9F </a:t>
            </a:r>
          </a:p>
        </p:txBody>
      </p:sp>
    </p:spTree>
    <p:extLst>
      <p:ext uri="{BB962C8B-B14F-4D97-AF65-F5344CB8AC3E}">
        <p14:creationId xmlns:p14="http://schemas.microsoft.com/office/powerpoint/2010/main" val="4231455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D378BC-ABFB-4914-8B9E-82FA6F6284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advantage: fast, stable</a:t>
            </a:r>
          </a:p>
          <a:p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62C665-1005-4760-926D-B70128592F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Solution:</a:t>
            </a:r>
            <a:r>
              <a:rPr lang="zh-CN" altLang="en-US" dirty="0"/>
              <a:t> </a:t>
            </a:r>
            <a:r>
              <a:rPr lang="en-US" altLang="zh-CN" dirty="0"/>
              <a:t>sim2s7/sim2s7.py</a:t>
            </a:r>
            <a:endParaRPr lang="zh-CN" altLang="en-US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E0E5439F-E4A4-41EA-98BD-F77A67BCDF0C}"/>
              </a:ext>
            </a:extLst>
          </p:cNvPr>
          <p:cNvSpPr txBox="1">
            <a:spLocks/>
          </p:cNvSpPr>
          <p:nvPr/>
        </p:nvSpPr>
        <p:spPr>
          <a:xfrm>
            <a:off x="417600" y="791550"/>
            <a:ext cx="8308800" cy="356040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dirty="0"/>
          </a:p>
          <a:p>
            <a:r>
              <a:rPr lang="en-US" altLang="zh-CN" sz="2000" dirty="0"/>
              <a:t>1. convenient: running anywhere.</a:t>
            </a:r>
          </a:p>
          <a:p>
            <a:endParaRPr lang="en-US" altLang="zh-CN" sz="2000" dirty="0"/>
          </a:p>
          <a:p>
            <a:r>
              <a:rPr lang="en-US" altLang="zh-CN" sz="2000" dirty="0"/>
              <a:t>2. stable: faster, higher success rate due to better connection</a:t>
            </a:r>
          </a:p>
          <a:p>
            <a:endParaRPr lang="en-US" altLang="zh-CN" sz="2000" dirty="0"/>
          </a:p>
          <a:p>
            <a:r>
              <a:rPr lang="en-US" altLang="zh-CN" sz="2000" dirty="0"/>
              <a:t>3. response messages can be received, transaction id or other parameters can be got and used dynamically in later messages</a:t>
            </a:r>
          </a:p>
          <a:p>
            <a:pPr marL="0" indent="0">
              <a:buNone/>
            </a:pPr>
            <a:r>
              <a:rPr lang="en-US" altLang="zh-CN" sz="2000" dirty="0"/>
              <a:t>	 (comparing to </a:t>
            </a:r>
            <a:r>
              <a:rPr lang="en-US" altLang="zh-CN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/cs/</a:t>
            </a:r>
            <a:r>
              <a:rPr lang="en-US" altLang="zh-CN" sz="20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sn</a:t>
            </a:r>
            <a:r>
              <a:rPr lang="en-US" altLang="zh-CN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/</a:t>
            </a:r>
            <a:r>
              <a:rPr lang="en-US" altLang="zh-CN" sz="20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utest</a:t>
            </a:r>
            <a:r>
              <a:rPr lang="en-US" altLang="zh-CN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/s7sch/sim2s7</a:t>
            </a:r>
            <a:r>
              <a:rPr lang="en-US" altLang="zh-CN" sz="2000" dirty="0"/>
              <a:t>)</a:t>
            </a:r>
          </a:p>
          <a:p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AC031-C5F1-4C81-8CA1-878E597B70D8}"/>
              </a:ext>
            </a:extLst>
          </p:cNvPr>
          <p:cNvSpPr txBox="1"/>
          <p:nvPr/>
        </p:nvSpPr>
        <p:spPr>
          <a:xfrm>
            <a:off x="7023157" y="3176587"/>
            <a:ext cx="1560827" cy="1376513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>
              <a:spcBef>
                <a:spcPts val="0"/>
              </a:spcBef>
              <a:buClr>
                <a:srgbClr val="001135"/>
              </a:buClr>
            </a:pPr>
            <a:r>
              <a:rPr lang="zh-CN" altLang="en-US" sz="8000" dirty="0">
                <a:solidFill>
                  <a:srgbClr val="1C6410"/>
                </a:solidFill>
              </a:rPr>
              <a:t>👍</a:t>
            </a:r>
            <a:endParaRPr lang="zh-CN" altLang="en-US" sz="8000" dirty="0">
              <a:solidFill>
                <a:srgbClr val="1C6410"/>
              </a:solidFill>
              <a:latin typeface="+mn-lt"/>
              <a:ea typeface="Nokia Pure Text" panose="020B0503020202020204" pitchFamily="34" charset="0"/>
              <a:cs typeface="Nokia Pure Headline Light"/>
            </a:endParaRPr>
          </a:p>
        </p:txBody>
      </p:sp>
    </p:spTree>
    <p:extLst>
      <p:ext uri="{BB962C8B-B14F-4D97-AF65-F5344CB8AC3E}">
        <p14:creationId xmlns:p14="http://schemas.microsoft.com/office/powerpoint/2010/main" val="1629219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CFB225-3515-4EFF-B931-7618BEE290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BD327-90B5-4C92-A842-5168F02B2C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Solution to get state machine json files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0800AA-9A99-4DC1-87F3-A9676B3977BB}"/>
              </a:ext>
            </a:extLst>
          </p:cNvPr>
          <p:cNvSpPr/>
          <p:nvPr/>
        </p:nvSpPr>
        <p:spPr>
          <a:xfrm>
            <a:off x="2447981" y="1081473"/>
            <a:ext cx="3982067" cy="11450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endParaRPr lang="zh-CN" altLang="en-US" sz="1200" dirty="0"/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1F839147-0F89-4E6E-B79B-66173A27B9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306"/>
          <a:stretch/>
        </p:blipFill>
        <p:spPr>
          <a:xfrm>
            <a:off x="2568161" y="2998060"/>
            <a:ext cx="3665913" cy="1555040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935B0FB4-94E8-418B-AE8B-8F823D1068DB}"/>
              </a:ext>
            </a:extLst>
          </p:cNvPr>
          <p:cNvSpPr/>
          <p:nvPr/>
        </p:nvSpPr>
        <p:spPr>
          <a:xfrm>
            <a:off x="4039515" y="2330784"/>
            <a:ext cx="723207" cy="905610"/>
          </a:xfrm>
          <a:prstGeom prst="down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endParaRPr lang="zh-CN" altLang="en-US" sz="1200" dirty="0" err="1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5D15372-6B32-43AB-AD57-9FBA71C9ED23}"/>
              </a:ext>
            </a:extLst>
          </p:cNvPr>
          <p:cNvGrpSpPr/>
          <p:nvPr/>
        </p:nvGrpSpPr>
        <p:grpSpPr>
          <a:xfrm>
            <a:off x="4662982" y="1458881"/>
            <a:ext cx="428625" cy="400050"/>
            <a:chOff x="4143375" y="1609725"/>
            <a:chExt cx="428625" cy="40005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2A42DB7-90E3-438B-89F6-83246B3EC38A}"/>
                </a:ext>
              </a:extLst>
            </p:cNvPr>
            <p:cNvSpPr/>
            <p:nvPr/>
          </p:nvSpPr>
          <p:spPr>
            <a:xfrm>
              <a:off x="4143375" y="1609725"/>
              <a:ext cx="428625" cy="400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Aft>
                  <a:spcPts val="300"/>
                </a:spcAft>
                <a:buSzPct val="100000"/>
              </a:pPr>
              <a:endParaRPr lang="zh-CN" altLang="en-US" sz="1200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BCCC786-6907-4F09-87B0-AEDBFDE4548A}"/>
                </a:ext>
              </a:extLst>
            </p:cNvPr>
            <p:cNvSpPr/>
            <p:nvPr/>
          </p:nvSpPr>
          <p:spPr>
            <a:xfrm>
              <a:off x="4175790" y="1651820"/>
              <a:ext cx="344129" cy="328459"/>
            </a:xfrm>
            <a:prstGeom prst="ellipse">
              <a:avLst/>
            </a:prstGeom>
            <a:noFill/>
            <a:ln w="222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Aft>
                  <a:spcPts val="300"/>
                </a:spcAft>
                <a:buSzPct val="100000"/>
              </a:pPr>
              <a:endParaRPr lang="zh-CN" altLang="en-US" sz="1200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97DA8EF-8005-41E8-8480-8C1CE26FFBD9}"/>
                </a:ext>
              </a:extLst>
            </p:cNvPr>
            <p:cNvCxnSpPr/>
            <p:nvPr/>
          </p:nvCxnSpPr>
          <p:spPr>
            <a:xfrm>
              <a:off x="4357687" y="1659771"/>
              <a:ext cx="0" cy="299958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A4E2154E-060D-4C58-A6ED-84F606779D79}"/>
                </a:ext>
              </a:extLst>
            </p:cNvPr>
            <p:cNvSpPr/>
            <p:nvPr/>
          </p:nvSpPr>
          <p:spPr>
            <a:xfrm>
              <a:off x="4357686" y="1771441"/>
              <a:ext cx="161310" cy="82960"/>
            </a:xfrm>
            <a:prstGeom prst="rightArrow">
              <a:avLst/>
            </a:prstGeom>
            <a:noFill/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Aft>
                  <a:spcPts val="300"/>
                </a:spcAft>
                <a:buSzPct val="100000"/>
              </a:pPr>
              <a:endParaRPr lang="zh-CN" altLang="en-US" sz="12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82C364F-CA86-4064-80E8-00EC5ABF819D}"/>
              </a:ext>
            </a:extLst>
          </p:cNvPr>
          <p:cNvGrpSpPr/>
          <p:nvPr/>
        </p:nvGrpSpPr>
        <p:grpSpPr>
          <a:xfrm>
            <a:off x="3754009" y="1468055"/>
            <a:ext cx="428625" cy="400050"/>
            <a:chOff x="4108961" y="2597869"/>
            <a:chExt cx="428625" cy="40005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4BB476B-3602-4B89-BCF6-FA9275324888}"/>
                </a:ext>
              </a:extLst>
            </p:cNvPr>
            <p:cNvSpPr/>
            <p:nvPr/>
          </p:nvSpPr>
          <p:spPr>
            <a:xfrm>
              <a:off x="4108961" y="2597869"/>
              <a:ext cx="428625" cy="400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Aft>
                  <a:spcPts val="300"/>
                </a:spcAft>
                <a:buSzPct val="100000"/>
              </a:pPr>
              <a:endParaRPr lang="zh-CN" altLang="en-US" sz="1200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95A811F-1834-41F1-BB84-2D4A8720198D}"/>
                </a:ext>
              </a:extLst>
            </p:cNvPr>
            <p:cNvSpPr/>
            <p:nvPr/>
          </p:nvSpPr>
          <p:spPr>
            <a:xfrm>
              <a:off x="4141376" y="2639964"/>
              <a:ext cx="344129" cy="328459"/>
            </a:xfrm>
            <a:prstGeom prst="ellipse">
              <a:avLst/>
            </a:prstGeom>
            <a:noFill/>
            <a:ln w="222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Aft>
                  <a:spcPts val="300"/>
                </a:spcAft>
                <a:buSzPct val="100000"/>
              </a:pPr>
              <a:endParaRPr lang="zh-CN" altLang="en-US" sz="1200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2DFBC7B-F39D-4688-B71D-13588AA6D6A2}"/>
                </a:ext>
              </a:extLst>
            </p:cNvPr>
            <p:cNvCxnSpPr/>
            <p:nvPr/>
          </p:nvCxnSpPr>
          <p:spPr>
            <a:xfrm>
              <a:off x="4323273" y="2647915"/>
              <a:ext cx="0" cy="299958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0003ABC2-F6F7-4ED4-BC2F-287E5B0065AC}"/>
                </a:ext>
              </a:extLst>
            </p:cNvPr>
            <p:cNvSpPr/>
            <p:nvPr/>
          </p:nvSpPr>
          <p:spPr>
            <a:xfrm>
              <a:off x="4156122" y="2759585"/>
              <a:ext cx="161310" cy="82960"/>
            </a:xfrm>
            <a:prstGeom prst="rightArrow">
              <a:avLst/>
            </a:prstGeom>
            <a:noFill/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Aft>
                  <a:spcPts val="300"/>
                </a:spcAft>
                <a:buSzPct val="100000"/>
              </a:pPr>
              <a:endParaRPr lang="zh-CN" altLang="en-US" sz="12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2675480-9978-4C8F-9F97-E01EC24E4111}"/>
              </a:ext>
            </a:extLst>
          </p:cNvPr>
          <p:cNvGrpSpPr/>
          <p:nvPr/>
        </p:nvGrpSpPr>
        <p:grpSpPr>
          <a:xfrm>
            <a:off x="2579795" y="1465690"/>
            <a:ext cx="668594" cy="400050"/>
            <a:chOff x="2854348" y="3492605"/>
            <a:chExt cx="668594" cy="40005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D101529-34E4-478F-982B-51460E559B24}"/>
                </a:ext>
              </a:extLst>
            </p:cNvPr>
            <p:cNvSpPr/>
            <p:nvPr/>
          </p:nvSpPr>
          <p:spPr>
            <a:xfrm>
              <a:off x="2958587" y="3492605"/>
              <a:ext cx="428625" cy="400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Aft>
                  <a:spcPts val="300"/>
                </a:spcAft>
                <a:buSzPct val="100000"/>
              </a:pPr>
              <a:endParaRPr lang="zh-CN" altLang="en-US" sz="1200" dirty="0"/>
            </a:p>
          </p:txBody>
        </p:sp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5F538DCA-B592-434C-91D7-40131E38EFA0}"/>
                </a:ext>
              </a:extLst>
            </p:cNvPr>
            <p:cNvSpPr/>
            <p:nvPr/>
          </p:nvSpPr>
          <p:spPr>
            <a:xfrm>
              <a:off x="2990079" y="3497008"/>
              <a:ext cx="397133" cy="388838"/>
            </a:xfrm>
            <a:prstGeom prst="rightArrow">
              <a:avLst/>
            </a:prstGeom>
            <a:noFill/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Aft>
                  <a:spcPts val="300"/>
                </a:spcAft>
                <a:buSzPct val="100000"/>
              </a:pPr>
              <a:endParaRPr lang="zh-CN" altLang="en-US" sz="400" dirty="0">
                <a:solidFill>
                  <a:schemeClr val="tx2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E4EFD1F-0859-4B02-9F44-E6564EF2B295}"/>
                </a:ext>
              </a:extLst>
            </p:cNvPr>
            <p:cNvSpPr txBox="1"/>
            <p:nvPr/>
          </p:nvSpPr>
          <p:spPr>
            <a:xfrm>
              <a:off x="2854348" y="3556847"/>
              <a:ext cx="668594" cy="226142"/>
            </a:xfrm>
            <a:prstGeom prst="rect">
              <a:avLst/>
            </a:prstGeom>
            <a:noFill/>
          </p:spPr>
          <p:txBody>
            <a:bodyPr wrap="square" lIns="72000" tIns="72000" rIns="72000" bIns="72000" rtlCol="0">
              <a:noAutofit/>
            </a:bodyPr>
            <a:lstStyle/>
            <a:p>
              <a:pPr algn="ctr">
                <a:spcAft>
                  <a:spcPts val="300"/>
                </a:spcAft>
                <a:buSzPct val="100000"/>
              </a:pPr>
              <a:r>
                <a:rPr lang="en-US" altLang="zh-CN" sz="900" b="1" dirty="0">
                  <a:solidFill>
                    <a:schemeClr val="tx2"/>
                  </a:solidFill>
                </a:rPr>
                <a:t>START</a:t>
              </a:r>
              <a:endParaRPr lang="zh-CN" altLang="en-US" sz="4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2DF71F1-6658-46F3-8B5D-BDBB291B2B6A}"/>
              </a:ext>
            </a:extLst>
          </p:cNvPr>
          <p:cNvGrpSpPr/>
          <p:nvPr/>
        </p:nvGrpSpPr>
        <p:grpSpPr>
          <a:xfrm>
            <a:off x="5633504" y="1458881"/>
            <a:ext cx="668594" cy="400050"/>
            <a:chOff x="1079622" y="3625341"/>
            <a:chExt cx="668594" cy="40005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05BB385-0CB4-46C4-967C-6DAF58C391B0}"/>
                </a:ext>
              </a:extLst>
            </p:cNvPr>
            <p:cNvSpPr/>
            <p:nvPr/>
          </p:nvSpPr>
          <p:spPr>
            <a:xfrm>
              <a:off x="1183861" y="3625341"/>
              <a:ext cx="428625" cy="400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Aft>
                  <a:spcPts val="300"/>
                </a:spcAft>
                <a:buSzPct val="100000"/>
              </a:pPr>
              <a:endParaRPr lang="zh-CN" altLang="en-US" sz="12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C720FD5-B0F3-4F61-B6FD-E1DBCDD8ADB7}"/>
                </a:ext>
              </a:extLst>
            </p:cNvPr>
            <p:cNvSpPr txBox="1"/>
            <p:nvPr/>
          </p:nvSpPr>
          <p:spPr>
            <a:xfrm>
              <a:off x="1079622" y="3689583"/>
              <a:ext cx="668594" cy="226142"/>
            </a:xfrm>
            <a:prstGeom prst="rect">
              <a:avLst/>
            </a:prstGeom>
            <a:noFill/>
          </p:spPr>
          <p:txBody>
            <a:bodyPr wrap="square" lIns="72000" tIns="72000" rIns="72000" bIns="72000" rtlCol="0">
              <a:noAutofit/>
            </a:bodyPr>
            <a:lstStyle/>
            <a:p>
              <a:pPr algn="ctr">
                <a:spcAft>
                  <a:spcPts val="300"/>
                </a:spcAft>
                <a:buSzPct val="100000"/>
              </a:pPr>
              <a:r>
                <a:rPr lang="en-US" altLang="zh-CN" sz="900" b="1" dirty="0">
                  <a:solidFill>
                    <a:schemeClr val="tx2"/>
                  </a:solidFill>
                </a:rPr>
                <a:t>STOP</a:t>
              </a:r>
              <a:endParaRPr lang="zh-CN" altLang="en-US" sz="400" b="1" dirty="0">
                <a:solidFill>
                  <a:schemeClr val="tx2"/>
                </a:solidFill>
              </a:endParaRPr>
            </a:p>
          </p:txBody>
        </p:sp>
        <p:sp>
          <p:nvSpPr>
            <p:cNvPr id="24" name="Hexagon 23">
              <a:extLst>
                <a:ext uri="{FF2B5EF4-FFF2-40B4-BE49-F238E27FC236}">
                  <a16:creationId xmlns:a16="http://schemas.microsoft.com/office/drawing/2014/main" id="{95400114-1363-408A-A70B-3242C416AEF4}"/>
                </a:ext>
              </a:extLst>
            </p:cNvPr>
            <p:cNvSpPr/>
            <p:nvPr/>
          </p:nvSpPr>
          <p:spPr>
            <a:xfrm>
              <a:off x="1238861" y="3694502"/>
              <a:ext cx="336292" cy="260846"/>
            </a:xfrm>
            <a:prstGeom prst="hexagon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Aft>
                  <a:spcPts val="300"/>
                </a:spcAft>
                <a:buSzPct val="100000"/>
              </a:pPr>
              <a:endParaRPr lang="zh-CN" altLang="en-US" sz="1200" dirty="0"/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3E5A782-D39E-4573-9B57-B9521C0652B4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3112659" y="1658906"/>
            <a:ext cx="641350" cy="9174"/>
          </a:xfrm>
          <a:prstGeom prst="straightConnector1">
            <a:avLst/>
          </a:prstGeom>
          <a:ln w="31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D767EE1-9565-4327-B30C-74B351A0C506}"/>
              </a:ext>
            </a:extLst>
          </p:cNvPr>
          <p:cNvCxnSpPr>
            <a:cxnSpLocks/>
            <a:stCxn id="13" idx="3"/>
            <a:endCxn id="9" idx="2"/>
          </p:cNvCxnSpPr>
          <p:nvPr/>
        </p:nvCxnSpPr>
        <p:spPr>
          <a:xfrm flipV="1">
            <a:off x="4182634" y="1665206"/>
            <a:ext cx="512763" cy="2874"/>
          </a:xfrm>
          <a:prstGeom prst="straightConnector1">
            <a:avLst/>
          </a:prstGeom>
          <a:ln w="31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7D74064-1A34-41D3-B29B-0CDF79483F84}"/>
              </a:ext>
            </a:extLst>
          </p:cNvPr>
          <p:cNvCxnSpPr>
            <a:cxnSpLocks/>
          </p:cNvCxnSpPr>
          <p:nvPr/>
        </p:nvCxnSpPr>
        <p:spPr>
          <a:xfrm>
            <a:off x="5093867" y="1663824"/>
            <a:ext cx="641350" cy="9174"/>
          </a:xfrm>
          <a:prstGeom prst="straightConnector1">
            <a:avLst/>
          </a:prstGeom>
          <a:ln w="31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E28B5D9-AB46-41E6-8708-84536FECA0D0}"/>
              </a:ext>
            </a:extLst>
          </p:cNvPr>
          <p:cNvSpPr txBox="1"/>
          <p:nvPr/>
        </p:nvSpPr>
        <p:spPr>
          <a:xfrm>
            <a:off x="4614504" y="2483710"/>
            <a:ext cx="1619570" cy="514350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>
              <a:spcAft>
                <a:spcPts val="300"/>
              </a:spcAft>
              <a:buSzPct val="100000"/>
            </a:pPr>
            <a:r>
              <a:rPr lang="en-US" altLang="zh-CN" sz="2000" b="1" dirty="0"/>
              <a:t>states2j.py</a:t>
            </a:r>
            <a:endParaRPr lang="zh-CN" altLang="en-US" sz="20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8A791E-0336-4341-82B5-9C07AFD98F89}"/>
              </a:ext>
            </a:extLst>
          </p:cNvPr>
          <p:cNvSpPr txBox="1"/>
          <p:nvPr/>
        </p:nvSpPr>
        <p:spPr>
          <a:xfrm>
            <a:off x="621102" y="1294779"/>
            <a:ext cx="1478345" cy="741871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r>
              <a:rPr lang="en-US" altLang="zh-CN" sz="2800" dirty="0">
                <a:solidFill>
                  <a:schemeClr val="tx2"/>
                </a:solidFill>
              </a:rPr>
              <a:t>We</a:t>
            </a:r>
            <a:r>
              <a:rPr lang="zh-CN" altLang="en-US" sz="2800" dirty="0">
                <a:solidFill>
                  <a:schemeClr val="tx2"/>
                </a:solidFill>
              </a:rPr>
              <a:t> </a:t>
            </a:r>
            <a:r>
              <a:rPr lang="en-US" altLang="zh-CN" sz="2800" dirty="0">
                <a:solidFill>
                  <a:schemeClr val="tx2"/>
                </a:solidFill>
              </a:rPr>
              <a:t>have</a:t>
            </a:r>
            <a:endParaRPr lang="zh-CN" altLang="en-US" sz="2800" dirty="0">
              <a:solidFill>
                <a:schemeClr val="tx2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A7AFD9-870F-417D-B3D3-7ABAAFCFC559}"/>
              </a:ext>
            </a:extLst>
          </p:cNvPr>
          <p:cNvSpPr txBox="1"/>
          <p:nvPr/>
        </p:nvSpPr>
        <p:spPr>
          <a:xfrm>
            <a:off x="635479" y="3560643"/>
            <a:ext cx="1590136" cy="741871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r>
              <a:rPr lang="en-US" altLang="zh-CN" sz="2800" dirty="0">
                <a:solidFill>
                  <a:schemeClr val="tx2"/>
                </a:solidFill>
              </a:rPr>
              <a:t>We</a:t>
            </a:r>
            <a:r>
              <a:rPr lang="zh-CN" altLang="en-US" sz="2800" dirty="0">
                <a:solidFill>
                  <a:schemeClr val="tx2"/>
                </a:solidFill>
              </a:rPr>
              <a:t> </a:t>
            </a:r>
            <a:r>
              <a:rPr lang="en-US" altLang="zh-CN" sz="2800" dirty="0">
                <a:solidFill>
                  <a:schemeClr val="tx2"/>
                </a:solidFill>
              </a:rPr>
              <a:t>need</a:t>
            </a:r>
            <a:endParaRPr lang="zh-CN" altLang="en-US" sz="2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968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29" grpId="0"/>
      <p:bldP spid="28" grpId="0"/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8AC005-CE8E-4F32-90B4-4A22CDC509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 err="1"/>
              <a:t>SUnit</a:t>
            </a:r>
            <a:r>
              <a:rPr lang="en-US" altLang="zh-CN" dirty="0"/>
              <a:t> + MGTS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252B9-9D4B-4C58-B743-A05FC32127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Pseudo MGTS Plan</a:t>
            </a:r>
            <a:endParaRPr lang="zh-CN" alt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F1BC78E-F945-434B-988D-6635E841EF45}"/>
              </a:ext>
            </a:extLst>
          </p:cNvPr>
          <p:cNvCxnSpPr>
            <a:cxnSpLocks/>
          </p:cNvCxnSpPr>
          <p:nvPr/>
        </p:nvCxnSpPr>
        <p:spPr>
          <a:xfrm>
            <a:off x="1514475" y="2426719"/>
            <a:ext cx="3743325" cy="0"/>
          </a:xfrm>
          <a:prstGeom prst="straightConnector1">
            <a:avLst/>
          </a:prstGeom>
          <a:ln w="31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D572CA9-2A25-4405-AC4F-68C198B623DF}"/>
              </a:ext>
            </a:extLst>
          </p:cNvPr>
          <p:cNvCxnSpPr>
            <a:cxnSpLocks/>
          </p:cNvCxnSpPr>
          <p:nvPr/>
        </p:nvCxnSpPr>
        <p:spPr>
          <a:xfrm>
            <a:off x="1514475" y="3045842"/>
            <a:ext cx="3743325" cy="0"/>
          </a:xfrm>
          <a:prstGeom prst="straightConnector1">
            <a:avLst/>
          </a:prstGeom>
          <a:ln w="31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BAEF03D-3F7A-48EA-AE2D-823DBC425CEA}"/>
              </a:ext>
            </a:extLst>
          </p:cNvPr>
          <p:cNvSpPr txBox="1"/>
          <p:nvPr/>
        </p:nvSpPr>
        <p:spPr>
          <a:xfrm>
            <a:off x="2143125" y="2140969"/>
            <a:ext cx="2514600" cy="266698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r>
              <a:rPr lang="en-US" altLang="zh-CN" sz="1200" dirty="0">
                <a:solidFill>
                  <a:schemeClr val="tx2"/>
                </a:solidFill>
              </a:rPr>
              <a:t>ftp upload &lt;state machine&gt;.tar</a:t>
            </a:r>
            <a:endParaRPr lang="zh-CN" altLang="en-US" sz="1200" dirty="0">
              <a:solidFill>
                <a:schemeClr val="tx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247AE3-7A59-4D44-9257-9BFF189BCD4A}"/>
              </a:ext>
            </a:extLst>
          </p:cNvPr>
          <p:cNvSpPr txBox="1"/>
          <p:nvPr/>
        </p:nvSpPr>
        <p:spPr>
          <a:xfrm>
            <a:off x="2181225" y="2693419"/>
            <a:ext cx="2514600" cy="266698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r>
              <a:rPr lang="en-US" altLang="zh-CN" sz="1200" dirty="0">
                <a:solidFill>
                  <a:schemeClr val="tx2"/>
                </a:solidFill>
              </a:rPr>
              <a:t>telnet run state machine by calling</a:t>
            </a:r>
            <a:endParaRPr lang="zh-CN" altLang="en-US" sz="1200" dirty="0">
              <a:solidFill>
                <a:schemeClr val="tx2"/>
              </a:solidFill>
            </a:endParaRPr>
          </a:p>
        </p:txBody>
      </p:sp>
      <p:sp>
        <p:nvSpPr>
          <p:cNvPr id="22" name="laptop">
            <a:extLst>
              <a:ext uri="{FF2B5EF4-FFF2-40B4-BE49-F238E27FC236}">
                <a16:creationId xmlns:a16="http://schemas.microsoft.com/office/drawing/2014/main" id="{3A3AD5D8-6689-4372-8AE5-D842AEB57D8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417600" y="2295970"/>
            <a:ext cx="1241946" cy="943276"/>
          </a:xfrm>
          <a:custGeom>
            <a:avLst/>
            <a:gdLst>
              <a:gd name="T0" fmla="*/ 3362 w 21600"/>
              <a:gd name="T1" fmla="*/ 0 h 21600"/>
              <a:gd name="T2" fmla="*/ 3362 w 21600"/>
              <a:gd name="T3" fmla="*/ 7173 h 21600"/>
              <a:gd name="T4" fmla="*/ 18327 w 21600"/>
              <a:gd name="T5" fmla="*/ 0 h 21600"/>
              <a:gd name="T6" fmla="*/ 18327 w 21600"/>
              <a:gd name="T7" fmla="*/ 7173 h 21600"/>
              <a:gd name="T8" fmla="*/ 10800 w 21600"/>
              <a:gd name="T9" fmla="*/ 0 h 21600"/>
              <a:gd name="T10" fmla="*/ 10800 w 21600"/>
              <a:gd name="T11" fmla="*/ 21600 h 21600"/>
              <a:gd name="T12" fmla="*/ 0 w 21600"/>
              <a:gd name="T13" fmla="*/ 21600 h 21600"/>
              <a:gd name="T14" fmla="*/ 21600 w 21600"/>
              <a:gd name="T15" fmla="*/ 21600 h 21600"/>
              <a:gd name="T16" fmla="*/ 4445 w 21600"/>
              <a:gd name="T17" fmla="*/ 1858 h 21600"/>
              <a:gd name="T18" fmla="*/ 17311 w 21600"/>
              <a:gd name="T19" fmla="*/ 1232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 extrusionOk="0">
                <a:moveTo>
                  <a:pt x="3362" y="0"/>
                </a:moveTo>
                <a:lnTo>
                  <a:pt x="18327" y="0"/>
                </a:lnTo>
                <a:lnTo>
                  <a:pt x="18327" y="14347"/>
                </a:lnTo>
                <a:lnTo>
                  <a:pt x="3362" y="14347"/>
                </a:lnTo>
                <a:lnTo>
                  <a:pt x="3362" y="0"/>
                </a:lnTo>
                <a:close/>
              </a:path>
              <a:path w="21600" h="21600" extrusionOk="0">
                <a:moveTo>
                  <a:pt x="3340" y="15068"/>
                </a:moveTo>
                <a:lnTo>
                  <a:pt x="0" y="19877"/>
                </a:lnTo>
                <a:lnTo>
                  <a:pt x="21600" y="19877"/>
                </a:lnTo>
                <a:lnTo>
                  <a:pt x="18327" y="15068"/>
                </a:lnTo>
                <a:lnTo>
                  <a:pt x="3340" y="15068"/>
                </a:lnTo>
                <a:close/>
              </a:path>
              <a:path w="21600" h="21600" extrusionOk="0">
                <a:moveTo>
                  <a:pt x="0" y="19877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19877"/>
                </a:lnTo>
                <a:lnTo>
                  <a:pt x="0" y="19877"/>
                </a:lnTo>
                <a:close/>
              </a:path>
              <a:path w="21600" h="21600" extrusionOk="0">
                <a:moveTo>
                  <a:pt x="4186" y="1523"/>
                </a:moveTo>
                <a:lnTo>
                  <a:pt x="17547" y="1523"/>
                </a:lnTo>
                <a:lnTo>
                  <a:pt x="17547" y="12744"/>
                </a:lnTo>
                <a:lnTo>
                  <a:pt x="4186" y="12744"/>
                </a:lnTo>
                <a:lnTo>
                  <a:pt x="4186" y="1523"/>
                </a:lnTo>
                <a:close/>
              </a:path>
              <a:path w="21600" h="21600" extrusionOk="0">
                <a:moveTo>
                  <a:pt x="3318" y="15549"/>
                </a:moveTo>
                <a:lnTo>
                  <a:pt x="2917" y="16110"/>
                </a:lnTo>
                <a:lnTo>
                  <a:pt x="18727" y="16110"/>
                </a:lnTo>
                <a:lnTo>
                  <a:pt x="18327" y="15549"/>
                </a:lnTo>
                <a:lnTo>
                  <a:pt x="3318" y="15549"/>
                </a:lnTo>
                <a:close/>
              </a:path>
              <a:path w="21600" h="21600" extrusionOk="0">
                <a:moveTo>
                  <a:pt x="6213" y="18314"/>
                </a:moveTo>
                <a:lnTo>
                  <a:pt x="5946" y="18875"/>
                </a:lnTo>
                <a:lnTo>
                  <a:pt x="15766" y="18875"/>
                </a:lnTo>
                <a:lnTo>
                  <a:pt x="15499" y="18314"/>
                </a:lnTo>
                <a:lnTo>
                  <a:pt x="6213" y="18314"/>
                </a:lnTo>
                <a:close/>
              </a:path>
              <a:path w="21600" h="21600" extrusionOk="0">
                <a:moveTo>
                  <a:pt x="2828" y="16471"/>
                </a:moveTo>
                <a:lnTo>
                  <a:pt x="2405" y="17072"/>
                </a:lnTo>
                <a:lnTo>
                  <a:pt x="19284" y="17072"/>
                </a:lnTo>
                <a:lnTo>
                  <a:pt x="18839" y="16471"/>
                </a:lnTo>
                <a:lnTo>
                  <a:pt x="2828" y="16471"/>
                </a:lnTo>
                <a:close/>
              </a:path>
              <a:path w="21600" h="21600" extrusionOk="0">
                <a:moveTo>
                  <a:pt x="2316" y="17352"/>
                </a:moveTo>
                <a:lnTo>
                  <a:pt x="1871" y="17953"/>
                </a:lnTo>
                <a:lnTo>
                  <a:pt x="19863" y="17953"/>
                </a:lnTo>
                <a:lnTo>
                  <a:pt x="19395" y="17352"/>
                </a:lnTo>
                <a:lnTo>
                  <a:pt x="2316" y="17352"/>
                </a:lnTo>
                <a:close/>
              </a:path>
            </a:pathLst>
          </a:custGeom>
          <a:solidFill>
            <a:srgbClr val="98A2AE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500" b="1" dirty="0">
              <a:latin typeface="Adobe 宋体 Std L" pitchFamily="18" charset="-122"/>
              <a:ea typeface="Adobe 宋体 Std L" pitchFamily="18" charset="-122"/>
              <a:cs typeface="Adobe Arabic" pitchFamily="18" charset="-78"/>
            </a:endParaRPr>
          </a:p>
          <a:p>
            <a:pPr algn="ctr"/>
            <a:r>
              <a:rPr lang="en-US" sz="1600" b="1" dirty="0" err="1">
                <a:latin typeface="Adobe 宋体 Std L" pitchFamily="18" charset="-122"/>
                <a:ea typeface="Adobe 宋体 Std L" pitchFamily="18" charset="-122"/>
                <a:cs typeface="Adobe Arabic" pitchFamily="18" charset="-78"/>
              </a:rPr>
              <a:t>SUnit</a:t>
            </a:r>
            <a:endParaRPr lang="en-US" sz="1600" b="1" dirty="0">
              <a:latin typeface="Adobe 宋体 Std L" pitchFamily="18" charset="-122"/>
              <a:ea typeface="Adobe 宋体 Std L" pitchFamily="18" charset="-122"/>
              <a:cs typeface="Adobe Arabic" pitchFamily="18" charset="-7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2C4544-9782-4112-A799-C050BEC7003E}"/>
              </a:ext>
            </a:extLst>
          </p:cNvPr>
          <p:cNvSpPr/>
          <p:nvPr/>
        </p:nvSpPr>
        <p:spPr>
          <a:xfrm>
            <a:off x="5262562" y="1862735"/>
            <a:ext cx="3400425" cy="1809746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300"/>
              </a:spcAft>
              <a:buSzPct val="100000"/>
            </a:pPr>
            <a:r>
              <a:rPr lang="en-US" altLang="zh-CN" sz="1200" b="1" dirty="0">
                <a:solidFill>
                  <a:schemeClr val="tx1"/>
                </a:solidFill>
              </a:rPr>
              <a:t>P250alu</a:t>
            </a:r>
          </a:p>
          <a:p>
            <a:pPr>
              <a:spcAft>
                <a:spcPts val="300"/>
              </a:spcAft>
              <a:buSzPct val="100000"/>
            </a:pPr>
            <a:r>
              <a:rPr lang="en-US" altLang="zh-CN" sz="1200" b="1" dirty="0">
                <a:solidFill>
                  <a:schemeClr val="tx1"/>
                </a:solidFill>
              </a:rPr>
              <a:t>/home/catapult/USERS/&lt;user&gt;/datafiles</a:t>
            </a:r>
          </a:p>
          <a:p>
            <a:pPr algn="ctr">
              <a:spcAft>
                <a:spcPts val="300"/>
              </a:spcAft>
              <a:buSzPct val="100000"/>
            </a:pPr>
            <a:endParaRPr lang="en-US" altLang="zh-CN" sz="1200" b="1" dirty="0">
              <a:solidFill>
                <a:schemeClr val="tx1"/>
              </a:solidFill>
            </a:endParaRPr>
          </a:p>
          <a:p>
            <a:pPr>
              <a:spcAft>
                <a:spcPts val="300"/>
              </a:spcAft>
              <a:buSzPct val="100000"/>
            </a:pPr>
            <a:r>
              <a:rPr lang="en-US" altLang="zh-CN" sz="1200" b="1" dirty="0">
                <a:solidFill>
                  <a:schemeClr val="accent6">
                    <a:lumMod val="50000"/>
                  </a:schemeClr>
                </a:solidFill>
              </a:rPr>
              <a:t>/home/auto/bin/test/auto_case_split.sh  </a:t>
            </a:r>
          </a:p>
          <a:p>
            <a:pPr>
              <a:spcAft>
                <a:spcPts val="300"/>
              </a:spcAft>
              <a:buSzPct val="100000"/>
            </a:pPr>
            <a:r>
              <a:rPr lang="en-US" altLang="zh-CN" sz="1200" b="1" dirty="0">
                <a:solidFill>
                  <a:schemeClr val="accent6">
                    <a:lumMod val="50000"/>
                  </a:schemeClr>
                </a:solidFill>
              </a:rPr>
              <a:t>/home/auto/bin/test/collect_log.sh</a:t>
            </a:r>
          </a:p>
          <a:p>
            <a:pPr>
              <a:spcAft>
                <a:spcPts val="300"/>
              </a:spcAft>
              <a:buSzPct val="100000"/>
            </a:pPr>
            <a:r>
              <a:rPr lang="en-US" altLang="zh-CN" sz="1200" b="1" dirty="0">
                <a:solidFill>
                  <a:schemeClr val="accent6">
                    <a:lumMod val="50000"/>
                  </a:schemeClr>
                </a:solidFill>
              </a:rPr>
              <a:t>/home/auto/bin/test/kill.sh</a:t>
            </a:r>
          </a:p>
        </p:txBody>
      </p:sp>
    </p:spTree>
    <p:extLst>
      <p:ext uri="{BB962C8B-B14F-4D97-AF65-F5344CB8AC3E}">
        <p14:creationId xmlns:p14="http://schemas.microsoft.com/office/powerpoint/2010/main" val="4115198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8AC005-CE8E-4F32-90B4-4A22CDC509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 err="1"/>
              <a:t>SUnit</a:t>
            </a:r>
            <a:r>
              <a:rPr lang="en-US" altLang="zh-CN" dirty="0"/>
              <a:t> + Pseudo MGTS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252B9-9D4B-4C58-B743-A05FC32127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Pseudo MGTS Plan</a:t>
            </a:r>
            <a:endParaRPr lang="zh-CN" alt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F1BC78E-F945-434B-988D-6635E841EF45}"/>
              </a:ext>
            </a:extLst>
          </p:cNvPr>
          <p:cNvCxnSpPr>
            <a:cxnSpLocks/>
          </p:cNvCxnSpPr>
          <p:nvPr/>
        </p:nvCxnSpPr>
        <p:spPr>
          <a:xfrm>
            <a:off x="1514475" y="2426719"/>
            <a:ext cx="3743325" cy="0"/>
          </a:xfrm>
          <a:prstGeom prst="straightConnector1">
            <a:avLst/>
          </a:prstGeom>
          <a:ln w="31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D572CA9-2A25-4405-AC4F-68C198B623DF}"/>
              </a:ext>
            </a:extLst>
          </p:cNvPr>
          <p:cNvCxnSpPr>
            <a:cxnSpLocks/>
          </p:cNvCxnSpPr>
          <p:nvPr/>
        </p:nvCxnSpPr>
        <p:spPr>
          <a:xfrm>
            <a:off x="1514475" y="3045842"/>
            <a:ext cx="3743325" cy="0"/>
          </a:xfrm>
          <a:prstGeom prst="straightConnector1">
            <a:avLst/>
          </a:prstGeom>
          <a:ln w="31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BAEF03D-3F7A-48EA-AE2D-823DBC425CEA}"/>
              </a:ext>
            </a:extLst>
          </p:cNvPr>
          <p:cNvSpPr txBox="1"/>
          <p:nvPr/>
        </p:nvSpPr>
        <p:spPr>
          <a:xfrm>
            <a:off x="2143125" y="2140969"/>
            <a:ext cx="2514600" cy="266698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r>
              <a:rPr lang="en-US" altLang="zh-CN" sz="1200" dirty="0">
                <a:solidFill>
                  <a:schemeClr val="tx2"/>
                </a:solidFill>
              </a:rPr>
              <a:t>ftp upload &lt;state machine&gt;.tar</a:t>
            </a:r>
            <a:endParaRPr lang="zh-CN" altLang="en-US" sz="1200" dirty="0">
              <a:solidFill>
                <a:schemeClr val="tx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247AE3-7A59-4D44-9257-9BFF189BCD4A}"/>
              </a:ext>
            </a:extLst>
          </p:cNvPr>
          <p:cNvSpPr txBox="1"/>
          <p:nvPr/>
        </p:nvSpPr>
        <p:spPr>
          <a:xfrm>
            <a:off x="2181225" y="2693419"/>
            <a:ext cx="2514600" cy="266698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r>
              <a:rPr lang="en-US" altLang="zh-CN" sz="1200" dirty="0">
                <a:solidFill>
                  <a:schemeClr val="tx2"/>
                </a:solidFill>
              </a:rPr>
              <a:t>telnet run state machine by calling</a:t>
            </a:r>
            <a:endParaRPr lang="zh-CN" altLang="en-US" sz="1200" dirty="0">
              <a:solidFill>
                <a:schemeClr val="tx2"/>
              </a:solidFill>
            </a:endParaRPr>
          </a:p>
        </p:txBody>
      </p:sp>
      <p:sp>
        <p:nvSpPr>
          <p:cNvPr id="22" name="laptop">
            <a:extLst>
              <a:ext uri="{FF2B5EF4-FFF2-40B4-BE49-F238E27FC236}">
                <a16:creationId xmlns:a16="http://schemas.microsoft.com/office/drawing/2014/main" id="{3A3AD5D8-6689-4372-8AE5-D842AEB57D8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417600" y="2295970"/>
            <a:ext cx="1241946" cy="943276"/>
          </a:xfrm>
          <a:custGeom>
            <a:avLst/>
            <a:gdLst>
              <a:gd name="T0" fmla="*/ 3362 w 21600"/>
              <a:gd name="T1" fmla="*/ 0 h 21600"/>
              <a:gd name="T2" fmla="*/ 3362 w 21600"/>
              <a:gd name="T3" fmla="*/ 7173 h 21600"/>
              <a:gd name="T4" fmla="*/ 18327 w 21600"/>
              <a:gd name="T5" fmla="*/ 0 h 21600"/>
              <a:gd name="T6" fmla="*/ 18327 w 21600"/>
              <a:gd name="T7" fmla="*/ 7173 h 21600"/>
              <a:gd name="T8" fmla="*/ 10800 w 21600"/>
              <a:gd name="T9" fmla="*/ 0 h 21600"/>
              <a:gd name="T10" fmla="*/ 10800 w 21600"/>
              <a:gd name="T11" fmla="*/ 21600 h 21600"/>
              <a:gd name="T12" fmla="*/ 0 w 21600"/>
              <a:gd name="T13" fmla="*/ 21600 h 21600"/>
              <a:gd name="T14" fmla="*/ 21600 w 21600"/>
              <a:gd name="T15" fmla="*/ 21600 h 21600"/>
              <a:gd name="T16" fmla="*/ 4445 w 21600"/>
              <a:gd name="T17" fmla="*/ 1858 h 21600"/>
              <a:gd name="T18" fmla="*/ 17311 w 21600"/>
              <a:gd name="T19" fmla="*/ 1232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 extrusionOk="0">
                <a:moveTo>
                  <a:pt x="3362" y="0"/>
                </a:moveTo>
                <a:lnTo>
                  <a:pt x="18327" y="0"/>
                </a:lnTo>
                <a:lnTo>
                  <a:pt x="18327" y="14347"/>
                </a:lnTo>
                <a:lnTo>
                  <a:pt x="3362" y="14347"/>
                </a:lnTo>
                <a:lnTo>
                  <a:pt x="3362" y="0"/>
                </a:lnTo>
                <a:close/>
              </a:path>
              <a:path w="21600" h="21600" extrusionOk="0">
                <a:moveTo>
                  <a:pt x="3340" y="15068"/>
                </a:moveTo>
                <a:lnTo>
                  <a:pt x="0" y="19877"/>
                </a:lnTo>
                <a:lnTo>
                  <a:pt x="21600" y="19877"/>
                </a:lnTo>
                <a:lnTo>
                  <a:pt x="18327" y="15068"/>
                </a:lnTo>
                <a:lnTo>
                  <a:pt x="3340" y="15068"/>
                </a:lnTo>
                <a:close/>
              </a:path>
              <a:path w="21600" h="21600" extrusionOk="0">
                <a:moveTo>
                  <a:pt x="0" y="19877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19877"/>
                </a:lnTo>
                <a:lnTo>
                  <a:pt x="0" y="19877"/>
                </a:lnTo>
                <a:close/>
              </a:path>
              <a:path w="21600" h="21600" extrusionOk="0">
                <a:moveTo>
                  <a:pt x="4186" y="1523"/>
                </a:moveTo>
                <a:lnTo>
                  <a:pt x="17547" y="1523"/>
                </a:lnTo>
                <a:lnTo>
                  <a:pt x="17547" y="12744"/>
                </a:lnTo>
                <a:lnTo>
                  <a:pt x="4186" y="12744"/>
                </a:lnTo>
                <a:lnTo>
                  <a:pt x="4186" y="1523"/>
                </a:lnTo>
                <a:close/>
              </a:path>
              <a:path w="21600" h="21600" extrusionOk="0">
                <a:moveTo>
                  <a:pt x="3318" y="15549"/>
                </a:moveTo>
                <a:lnTo>
                  <a:pt x="2917" y="16110"/>
                </a:lnTo>
                <a:lnTo>
                  <a:pt x="18727" y="16110"/>
                </a:lnTo>
                <a:lnTo>
                  <a:pt x="18327" y="15549"/>
                </a:lnTo>
                <a:lnTo>
                  <a:pt x="3318" y="15549"/>
                </a:lnTo>
                <a:close/>
              </a:path>
              <a:path w="21600" h="21600" extrusionOk="0">
                <a:moveTo>
                  <a:pt x="6213" y="18314"/>
                </a:moveTo>
                <a:lnTo>
                  <a:pt x="5946" y="18875"/>
                </a:lnTo>
                <a:lnTo>
                  <a:pt x="15766" y="18875"/>
                </a:lnTo>
                <a:lnTo>
                  <a:pt x="15499" y="18314"/>
                </a:lnTo>
                <a:lnTo>
                  <a:pt x="6213" y="18314"/>
                </a:lnTo>
                <a:close/>
              </a:path>
              <a:path w="21600" h="21600" extrusionOk="0">
                <a:moveTo>
                  <a:pt x="2828" y="16471"/>
                </a:moveTo>
                <a:lnTo>
                  <a:pt x="2405" y="17072"/>
                </a:lnTo>
                <a:lnTo>
                  <a:pt x="19284" y="17072"/>
                </a:lnTo>
                <a:lnTo>
                  <a:pt x="18839" y="16471"/>
                </a:lnTo>
                <a:lnTo>
                  <a:pt x="2828" y="16471"/>
                </a:lnTo>
                <a:close/>
              </a:path>
              <a:path w="21600" h="21600" extrusionOk="0">
                <a:moveTo>
                  <a:pt x="2316" y="17352"/>
                </a:moveTo>
                <a:lnTo>
                  <a:pt x="1871" y="17953"/>
                </a:lnTo>
                <a:lnTo>
                  <a:pt x="19863" y="17953"/>
                </a:lnTo>
                <a:lnTo>
                  <a:pt x="19395" y="17352"/>
                </a:lnTo>
                <a:lnTo>
                  <a:pt x="2316" y="17352"/>
                </a:lnTo>
                <a:close/>
              </a:path>
            </a:pathLst>
          </a:custGeom>
          <a:solidFill>
            <a:srgbClr val="98A2AE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500" b="1" dirty="0">
              <a:latin typeface="Adobe 宋体 Std L" pitchFamily="18" charset="-122"/>
              <a:ea typeface="Adobe 宋体 Std L" pitchFamily="18" charset="-122"/>
              <a:cs typeface="Adobe Arabic" pitchFamily="18" charset="-78"/>
            </a:endParaRPr>
          </a:p>
          <a:p>
            <a:pPr algn="ctr"/>
            <a:r>
              <a:rPr lang="en-US" sz="1600" b="1" dirty="0" err="1">
                <a:latin typeface="Adobe 宋体 Std L" pitchFamily="18" charset="-122"/>
                <a:ea typeface="Adobe 宋体 Std L" pitchFamily="18" charset="-122"/>
                <a:cs typeface="Adobe Arabic" pitchFamily="18" charset="-78"/>
              </a:rPr>
              <a:t>SUnit</a:t>
            </a:r>
            <a:endParaRPr lang="en-US" sz="1600" b="1" dirty="0">
              <a:latin typeface="Adobe 宋体 Std L" pitchFamily="18" charset="-122"/>
              <a:ea typeface="Adobe 宋体 Std L" pitchFamily="18" charset="-122"/>
              <a:cs typeface="Adobe Arabic" pitchFamily="18" charset="-7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2C4544-9782-4112-A799-C050BEC7003E}"/>
              </a:ext>
            </a:extLst>
          </p:cNvPr>
          <p:cNvSpPr/>
          <p:nvPr/>
        </p:nvSpPr>
        <p:spPr>
          <a:xfrm>
            <a:off x="5262562" y="1862735"/>
            <a:ext cx="3400425" cy="1809746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300"/>
              </a:spcAft>
              <a:buSzPct val="100000"/>
            </a:pPr>
            <a:r>
              <a:rPr lang="en-US" altLang="zh-CN" sz="1200" b="1" dirty="0">
                <a:solidFill>
                  <a:schemeClr val="tx1"/>
                </a:solidFill>
              </a:rPr>
              <a:t>Pseudo MGTS</a:t>
            </a:r>
          </a:p>
          <a:p>
            <a:pPr>
              <a:spcAft>
                <a:spcPts val="300"/>
              </a:spcAft>
              <a:buSzPct val="100000"/>
            </a:pPr>
            <a:r>
              <a:rPr lang="en-US" altLang="zh-CN" sz="1200" b="1" dirty="0">
                <a:solidFill>
                  <a:schemeClr val="tx1"/>
                </a:solidFill>
              </a:rPr>
              <a:t>/home/catapult/USERS/&lt;user&gt;/datafiles</a:t>
            </a:r>
          </a:p>
          <a:p>
            <a:pPr algn="ctr">
              <a:spcAft>
                <a:spcPts val="300"/>
              </a:spcAft>
              <a:buSzPct val="100000"/>
            </a:pPr>
            <a:endParaRPr lang="en-US" altLang="zh-CN" sz="1200" b="1" dirty="0">
              <a:solidFill>
                <a:schemeClr val="tx1"/>
              </a:solidFill>
            </a:endParaRPr>
          </a:p>
          <a:p>
            <a:pPr>
              <a:spcAft>
                <a:spcPts val="300"/>
              </a:spcAft>
              <a:buSzPct val="100000"/>
            </a:pPr>
            <a:r>
              <a:rPr lang="en-US" altLang="zh-CN" sz="1200" b="1" dirty="0">
                <a:solidFill>
                  <a:schemeClr val="accent6">
                    <a:lumMod val="50000"/>
                  </a:schemeClr>
                </a:solidFill>
              </a:rPr>
              <a:t>/home/auto/bin/test/auto_case_split.sh</a:t>
            </a:r>
          </a:p>
          <a:p>
            <a:pPr>
              <a:spcAft>
                <a:spcPts val="300"/>
              </a:spcAft>
              <a:buSzPct val="100000"/>
            </a:pPr>
            <a:r>
              <a:rPr lang="en-US" altLang="zh-CN" sz="1200" b="1" dirty="0">
                <a:solidFill>
                  <a:schemeClr val="accent6">
                    <a:lumMod val="50000"/>
                  </a:schemeClr>
                </a:solidFill>
              </a:rPr>
              <a:t>	--&gt; states2j.py</a:t>
            </a:r>
          </a:p>
          <a:p>
            <a:pPr>
              <a:spcAft>
                <a:spcPts val="300"/>
              </a:spcAft>
              <a:buSzPct val="100000"/>
            </a:pPr>
            <a:r>
              <a:rPr lang="en-US" altLang="zh-CN" sz="1200" b="1" dirty="0">
                <a:solidFill>
                  <a:schemeClr val="accent6">
                    <a:lumMod val="50000"/>
                  </a:schemeClr>
                </a:solidFill>
              </a:rPr>
              <a:t>	--&gt; sim2s7.py  </a:t>
            </a:r>
          </a:p>
          <a:p>
            <a:pPr>
              <a:spcAft>
                <a:spcPts val="300"/>
              </a:spcAft>
              <a:buSzPct val="100000"/>
            </a:pPr>
            <a:r>
              <a:rPr lang="en-US" altLang="zh-CN" sz="1200" b="1" dirty="0">
                <a:solidFill>
                  <a:schemeClr val="accent6">
                    <a:lumMod val="50000"/>
                  </a:schemeClr>
                </a:solidFill>
              </a:rPr>
              <a:t>/home/auto/bin/test/collect_log.sh</a:t>
            </a:r>
          </a:p>
          <a:p>
            <a:pPr>
              <a:spcAft>
                <a:spcPts val="300"/>
              </a:spcAft>
              <a:buSzPct val="100000"/>
            </a:pPr>
            <a:r>
              <a:rPr lang="en-US" altLang="zh-CN" sz="1200" b="1" dirty="0">
                <a:solidFill>
                  <a:schemeClr val="accent6">
                    <a:lumMod val="50000"/>
                  </a:schemeClr>
                </a:solidFill>
              </a:rPr>
              <a:t>/home/auto/bin/test/kill.sh</a:t>
            </a:r>
          </a:p>
          <a:p>
            <a:pPr algn="ctr">
              <a:spcAft>
                <a:spcPts val="300"/>
              </a:spcAft>
              <a:buSzPct val="100000"/>
            </a:pPr>
            <a:endParaRPr lang="zh-CN" alt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8799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DC61BC-1CD0-4646-AEF4-4164EEAE0E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7CF6A4-928F-4AAD-BD5F-5F199426D0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Pseudo MGTS Plan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5BDDDB0C-C7D1-47D8-8E6E-401BE2AB1842}"/>
              </a:ext>
            </a:extLst>
          </p:cNvPr>
          <p:cNvSpPr txBox="1">
            <a:spLocks/>
          </p:cNvSpPr>
          <p:nvPr/>
        </p:nvSpPr>
        <p:spPr>
          <a:xfrm>
            <a:off x="417600" y="900000"/>
            <a:ext cx="8308800" cy="356040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/>
              <a:t>1. Find a machine as pseudo MGTS ,</a:t>
            </a:r>
          </a:p>
          <a:p>
            <a:pPr marL="0" indent="0">
              <a:buNone/>
            </a:pPr>
            <a:r>
              <a:rPr lang="en-US" altLang="zh-CN" sz="1800" dirty="0"/>
              <a:t>	open telnet/ftp </a:t>
            </a:r>
            <a:r>
              <a:rPr lang="zh-CN" altLang="en-US" sz="1800" dirty="0"/>
              <a:t>（</a:t>
            </a:r>
            <a:r>
              <a:rPr lang="en-US" altLang="zh-CN" sz="1800" dirty="0"/>
              <a:t>export PS1="[\u@\h \W]&gt; "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	make directory structure: /home/catapult/USERS/&lt;username&gt;/datafiles</a:t>
            </a:r>
          </a:p>
          <a:p>
            <a:r>
              <a:rPr lang="en-US" altLang="zh-CN" sz="1800" dirty="0"/>
              <a:t>2. Deploy sim2s7.py and states2j.py</a:t>
            </a:r>
          </a:p>
          <a:p>
            <a:pPr marL="0" indent="0">
              <a:buNone/>
            </a:pPr>
            <a:r>
              <a:rPr lang="en-US" altLang="zh-CN" sz="1800" dirty="0"/>
              <a:t>	sim2s7.py uses python2, sim2s7py3.py uses python3</a:t>
            </a:r>
          </a:p>
          <a:p>
            <a:pPr marL="0" indent="0">
              <a:buNone/>
            </a:pPr>
            <a:r>
              <a:rPr lang="en-US" altLang="zh-CN" sz="1800" dirty="0"/>
              <a:t>	state2j.py uses python2/3, python3 brings better readability</a:t>
            </a:r>
          </a:p>
          <a:p>
            <a:pPr marL="0" indent="0">
              <a:buNone/>
            </a:pPr>
            <a:r>
              <a:rPr lang="en-US" altLang="zh-CN" sz="1800" dirty="0"/>
              <a:t>        They are called by /home/auto/bin/test/auto_case_split.sh</a:t>
            </a:r>
          </a:p>
          <a:p>
            <a:r>
              <a:rPr lang="en-US" altLang="zh-CN" sz="1800" dirty="0"/>
              <a:t>3. Rewrite autorun and other related scripts on MGTS server</a:t>
            </a:r>
          </a:p>
          <a:p>
            <a:pPr marL="0" indent="0">
              <a:buNone/>
            </a:pPr>
            <a:r>
              <a:rPr lang="en-US" altLang="zh-CN" sz="1800" dirty="0"/>
              <a:t>	/home/auto/bin/test/auto_case_split.sh</a:t>
            </a:r>
          </a:p>
          <a:p>
            <a:pPr marL="0" indent="0">
              <a:buNone/>
            </a:pPr>
            <a:r>
              <a:rPr lang="en-US" altLang="zh-CN" sz="1800" dirty="0"/>
              <a:t>	/home/auto/bin/test/collect_log.sh</a:t>
            </a:r>
          </a:p>
          <a:p>
            <a:pPr marL="0" indent="0">
              <a:buNone/>
            </a:pPr>
            <a:r>
              <a:rPr lang="en-US" altLang="zh-CN" sz="1800" dirty="0"/>
              <a:t>	/home/auto/bin/test/kill.sh</a:t>
            </a:r>
          </a:p>
        </p:txBody>
      </p:sp>
    </p:spTree>
    <p:extLst>
      <p:ext uri="{BB962C8B-B14F-4D97-AF65-F5344CB8AC3E}">
        <p14:creationId xmlns:p14="http://schemas.microsoft.com/office/powerpoint/2010/main" val="2274457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85A107-43B1-4610-8CC2-A8B733C50C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55E51B-ECCD-401B-9452-1734B9C8D3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Use sim2s7.py</a:t>
            </a:r>
            <a:r>
              <a:rPr lang="en-US" altLang="zh-CN"/>
              <a:t>(Pseudo MGTS) </a:t>
            </a:r>
            <a:r>
              <a:rPr lang="en-US" altLang="zh-CN" dirty="0"/>
              <a:t>for testing</a:t>
            </a:r>
            <a:endParaRPr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55EF4A-8F1C-4EC9-916A-88147013BAB1}"/>
              </a:ext>
            </a:extLst>
          </p:cNvPr>
          <p:cNvSpPr txBox="1"/>
          <p:nvPr/>
        </p:nvSpPr>
        <p:spPr>
          <a:xfrm>
            <a:off x="417600" y="1273053"/>
            <a:ext cx="5410566" cy="561762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r>
              <a:rPr lang="en-US" altLang="zh-CN" dirty="0">
                <a:solidFill>
                  <a:schemeClr val="tx2"/>
                </a:solidFill>
              </a:rPr>
              <a:t>Currently, MGTS is mainly used in three test areas</a:t>
            </a:r>
          </a:p>
        </p:txBody>
      </p:sp>
      <p:sp>
        <p:nvSpPr>
          <p:cNvPr id="46" name="Freeform 320">
            <a:extLst>
              <a:ext uri="{FF2B5EF4-FFF2-40B4-BE49-F238E27FC236}">
                <a16:creationId xmlns:a16="http://schemas.microsoft.com/office/drawing/2014/main" id="{D2A550A2-1A87-45BE-BC9C-98B0C2B695FE}"/>
              </a:ext>
            </a:extLst>
          </p:cNvPr>
          <p:cNvSpPr/>
          <p:nvPr/>
        </p:nvSpPr>
        <p:spPr>
          <a:xfrm>
            <a:off x="1536334" y="2092984"/>
            <a:ext cx="988608" cy="957532"/>
          </a:xfrm>
          <a:custGeom>
            <a:avLst/>
            <a:gdLst>
              <a:gd name="connsiteX0" fmla="*/ 18029 w 432707"/>
              <a:gd name="connsiteY0" fmla="*/ 252412 h 432707"/>
              <a:gd name="connsiteX1" fmla="*/ 144236 w 432707"/>
              <a:gd name="connsiteY1" fmla="*/ 252412 h 432707"/>
              <a:gd name="connsiteX2" fmla="*/ 156913 w 432707"/>
              <a:gd name="connsiteY2" fmla="*/ 257765 h 432707"/>
              <a:gd name="connsiteX3" fmla="*/ 162265 w 432707"/>
              <a:gd name="connsiteY3" fmla="*/ 270442 h 432707"/>
              <a:gd name="connsiteX4" fmla="*/ 156913 w 432707"/>
              <a:gd name="connsiteY4" fmla="*/ 283119 h 432707"/>
              <a:gd name="connsiteX5" fmla="*/ 118318 w 432707"/>
              <a:gd name="connsiteY5" fmla="*/ 321713 h 432707"/>
              <a:gd name="connsiteX6" fmla="*/ 163673 w 432707"/>
              <a:gd name="connsiteY6" fmla="*/ 350448 h 432707"/>
              <a:gd name="connsiteX7" fmla="*/ 216353 w 432707"/>
              <a:gd name="connsiteY7" fmla="*/ 360589 h 432707"/>
              <a:gd name="connsiteX8" fmla="*/ 286781 w 432707"/>
              <a:gd name="connsiteY8" fmla="*/ 342278 h 432707"/>
              <a:gd name="connsiteX9" fmla="*/ 339179 w 432707"/>
              <a:gd name="connsiteY9" fmla="*/ 291852 h 432707"/>
              <a:gd name="connsiteX10" fmla="*/ 354110 w 432707"/>
              <a:gd name="connsiteY10" fmla="*/ 258892 h 432707"/>
              <a:gd name="connsiteX11" fmla="*/ 362561 w 432707"/>
              <a:gd name="connsiteY11" fmla="*/ 252412 h 432707"/>
              <a:gd name="connsiteX12" fmla="*/ 416649 w 432707"/>
              <a:gd name="connsiteY12" fmla="*/ 252412 h 432707"/>
              <a:gd name="connsiteX13" fmla="*/ 422988 w 432707"/>
              <a:gd name="connsiteY13" fmla="*/ 255089 h 432707"/>
              <a:gd name="connsiteX14" fmla="*/ 425664 w 432707"/>
              <a:gd name="connsiteY14" fmla="*/ 261427 h 432707"/>
              <a:gd name="connsiteX15" fmla="*/ 425383 w 432707"/>
              <a:gd name="connsiteY15" fmla="*/ 263399 h 432707"/>
              <a:gd name="connsiteX16" fmla="*/ 349884 w 432707"/>
              <a:gd name="connsiteY16" fmla="*/ 385802 h 432707"/>
              <a:gd name="connsiteX17" fmla="*/ 215227 w 432707"/>
              <a:gd name="connsiteY17" fmla="*/ 432707 h 432707"/>
              <a:gd name="connsiteX18" fmla="*/ 135643 w 432707"/>
              <a:gd name="connsiteY18" fmla="*/ 417213 h 432707"/>
              <a:gd name="connsiteX19" fmla="*/ 67047 w 432707"/>
              <a:gd name="connsiteY19" fmla="*/ 372985 h 432707"/>
              <a:gd name="connsiteX20" fmla="*/ 30707 w 432707"/>
              <a:gd name="connsiteY20" fmla="*/ 409325 h 432707"/>
              <a:gd name="connsiteX21" fmla="*/ 18029 w 432707"/>
              <a:gd name="connsiteY21" fmla="*/ 414678 h 432707"/>
              <a:gd name="connsiteX22" fmla="*/ 5352 w 432707"/>
              <a:gd name="connsiteY22" fmla="*/ 409325 h 432707"/>
              <a:gd name="connsiteX23" fmla="*/ 0 w 432707"/>
              <a:gd name="connsiteY23" fmla="*/ 396648 h 432707"/>
              <a:gd name="connsiteX24" fmla="*/ 0 w 432707"/>
              <a:gd name="connsiteY24" fmla="*/ 270442 h 432707"/>
              <a:gd name="connsiteX25" fmla="*/ 5352 w 432707"/>
              <a:gd name="connsiteY25" fmla="*/ 257765 h 432707"/>
              <a:gd name="connsiteX26" fmla="*/ 18029 w 432707"/>
              <a:gd name="connsiteY26" fmla="*/ 252412 h 432707"/>
              <a:gd name="connsiteX27" fmla="*/ 216353 w 432707"/>
              <a:gd name="connsiteY27" fmla="*/ 0 h 432707"/>
              <a:gd name="connsiteX28" fmla="*/ 296359 w 432707"/>
              <a:gd name="connsiteY28" fmla="*/ 15635 h 432707"/>
              <a:gd name="connsiteX29" fmla="*/ 365378 w 432707"/>
              <a:gd name="connsiteY29" fmla="*/ 59723 h 432707"/>
              <a:gd name="connsiteX30" fmla="*/ 402001 w 432707"/>
              <a:gd name="connsiteY30" fmla="*/ 23382 h 432707"/>
              <a:gd name="connsiteX31" fmla="*/ 414677 w 432707"/>
              <a:gd name="connsiteY31" fmla="*/ 18029 h 432707"/>
              <a:gd name="connsiteX32" fmla="*/ 427354 w 432707"/>
              <a:gd name="connsiteY32" fmla="*/ 23382 h 432707"/>
              <a:gd name="connsiteX33" fmla="*/ 432707 w 432707"/>
              <a:gd name="connsiteY33" fmla="*/ 36059 h 432707"/>
              <a:gd name="connsiteX34" fmla="*/ 432707 w 432707"/>
              <a:gd name="connsiteY34" fmla="*/ 162265 h 432707"/>
              <a:gd name="connsiteX35" fmla="*/ 427354 w 432707"/>
              <a:gd name="connsiteY35" fmla="*/ 174942 h 432707"/>
              <a:gd name="connsiteX36" fmla="*/ 414677 w 432707"/>
              <a:gd name="connsiteY36" fmla="*/ 180295 h 432707"/>
              <a:gd name="connsiteX37" fmla="*/ 288471 w 432707"/>
              <a:gd name="connsiteY37" fmla="*/ 180295 h 432707"/>
              <a:gd name="connsiteX38" fmla="*/ 275795 w 432707"/>
              <a:gd name="connsiteY38" fmla="*/ 174942 h 432707"/>
              <a:gd name="connsiteX39" fmla="*/ 270442 w 432707"/>
              <a:gd name="connsiteY39" fmla="*/ 162265 h 432707"/>
              <a:gd name="connsiteX40" fmla="*/ 275795 w 432707"/>
              <a:gd name="connsiteY40" fmla="*/ 149588 h 432707"/>
              <a:gd name="connsiteX41" fmla="*/ 314671 w 432707"/>
              <a:gd name="connsiteY41" fmla="*/ 110712 h 432707"/>
              <a:gd name="connsiteX42" fmla="*/ 216353 w 432707"/>
              <a:gd name="connsiteY42" fmla="*/ 72118 h 432707"/>
              <a:gd name="connsiteX43" fmla="*/ 145926 w 432707"/>
              <a:gd name="connsiteY43" fmla="*/ 90429 h 432707"/>
              <a:gd name="connsiteX44" fmla="*/ 93528 w 432707"/>
              <a:gd name="connsiteY44" fmla="*/ 140855 h 432707"/>
              <a:gd name="connsiteX45" fmla="*/ 78597 w 432707"/>
              <a:gd name="connsiteY45" fmla="*/ 173815 h 432707"/>
              <a:gd name="connsiteX46" fmla="*/ 70146 w 432707"/>
              <a:gd name="connsiteY46" fmla="*/ 180295 h 432707"/>
              <a:gd name="connsiteX47" fmla="*/ 14086 w 432707"/>
              <a:gd name="connsiteY47" fmla="*/ 180295 h 432707"/>
              <a:gd name="connsiteX48" fmla="*/ 7747 w 432707"/>
              <a:gd name="connsiteY48" fmla="*/ 177618 h 432707"/>
              <a:gd name="connsiteX49" fmla="*/ 5071 w 432707"/>
              <a:gd name="connsiteY49" fmla="*/ 171280 h 432707"/>
              <a:gd name="connsiteX50" fmla="*/ 5071 w 432707"/>
              <a:gd name="connsiteY50" fmla="*/ 169308 h 432707"/>
              <a:gd name="connsiteX51" fmla="*/ 81133 w 432707"/>
              <a:gd name="connsiteY51" fmla="*/ 46905 h 432707"/>
              <a:gd name="connsiteX52" fmla="*/ 216353 w 432707"/>
              <a:gd name="connsiteY52" fmla="*/ 0 h 432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432707" h="432707">
                <a:moveTo>
                  <a:pt x="18029" y="252412"/>
                </a:moveTo>
                <a:lnTo>
                  <a:pt x="144236" y="252412"/>
                </a:lnTo>
                <a:cubicBezTo>
                  <a:pt x="149119" y="252412"/>
                  <a:pt x="153344" y="254197"/>
                  <a:pt x="156913" y="257765"/>
                </a:cubicBezTo>
                <a:cubicBezTo>
                  <a:pt x="160481" y="261333"/>
                  <a:pt x="162265" y="265559"/>
                  <a:pt x="162265" y="270442"/>
                </a:cubicBezTo>
                <a:cubicBezTo>
                  <a:pt x="162265" y="275325"/>
                  <a:pt x="160481" y="279551"/>
                  <a:pt x="156913" y="283119"/>
                </a:cubicBezTo>
                <a:lnTo>
                  <a:pt x="118318" y="321713"/>
                </a:lnTo>
                <a:cubicBezTo>
                  <a:pt x="131652" y="334109"/>
                  <a:pt x="146771" y="343687"/>
                  <a:pt x="163673" y="350448"/>
                </a:cubicBezTo>
                <a:cubicBezTo>
                  <a:pt x="180577" y="357209"/>
                  <a:pt x="198136" y="360589"/>
                  <a:pt x="216353" y="360589"/>
                </a:cubicBezTo>
                <a:cubicBezTo>
                  <a:pt x="241519" y="360589"/>
                  <a:pt x="264995" y="354486"/>
                  <a:pt x="286781" y="342278"/>
                </a:cubicBezTo>
                <a:cubicBezTo>
                  <a:pt x="308566" y="330071"/>
                  <a:pt x="326032" y="313262"/>
                  <a:pt x="339179" y="291852"/>
                </a:cubicBezTo>
                <a:cubicBezTo>
                  <a:pt x="341245" y="288659"/>
                  <a:pt x="346222" y="277672"/>
                  <a:pt x="354110" y="258892"/>
                </a:cubicBezTo>
                <a:cubicBezTo>
                  <a:pt x="355612" y="254572"/>
                  <a:pt x="358429" y="252412"/>
                  <a:pt x="362561" y="252412"/>
                </a:cubicBezTo>
                <a:lnTo>
                  <a:pt x="416649" y="252412"/>
                </a:lnTo>
                <a:cubicBezTo>
                  <a:pt x="419090" y="252412"/>
                  <a:pt x="421203" y="253305"/>
                  <a:pt x="422988" y="255089"/>
                </a:cubicBezTo>
                <a:cubicBezTo>
                  <a:pt x="424772" y="256873"/>
                  <a:pt x="425664" y="258986"/>
                  <a:pt x="425664" y="261427"/>
                </a:cubicBezTo>
                <a:cubicBezTo>
                  <a:pt x="425664" y="262366"/>
                  <a:pt x="425570" y="263023"/>
                  <a:pt x="425383" y="263399"/>
                </a:cubicBezTo>
                <a:cubicBezTo>
                  <a:pt x="413363" y="313731"/>
                  <a:pt x="388197" y="354532"/>
                  <a:pt x="349884" y="385802"/>
                </a:cubicBezTo>
                <a:cubicBezTo>
                  <a:pt x="311571" y="417072"/>
                  <a:pt x="266686" y="432707"/>
                  <a:pt x="215227" y="432707"/>
                </a:cubicBezTo>
                <a:cubicBezTo>
                  <a:pt x="187807" y="432707"/>
                  <a:pt x="161279" y="427542"/>
                  <a:pt x="135643" y="417213"/>
                </a:cubicBezTo>
                <a:cubicBezTo>
                  <a:pt x="110008" y="406884"/>
                  <a:pt x="87142" y="392141"/>
                  <a:pt x="67047" y="372985"/>
                </a:cubicBezTo>
                <a:lnTo>
                  <a:pt x="30707" y="409325"/>
                </a:lnTo>
                <a:cubicBezTo>
                  <a:pt x="27138" y="412894"/>
                  <a:pt x="22912" y="414678"/>
                  <a:pt x="18029" y="414678"/>
                </a:cubicBezTo>
                <a:cubicBezTo>
                  <a:pt x="13146" y="414678"/>
                  <a:pt x="8921" y="412894"/>
                  <a:pt x="5352" y="409325"/>
                </a:cubicBezTo>
                <a:cubicBezTo>
                  <a:pt x="1784" y="405757"/>
                  <a:pt x="0" y="401531"/>
                  <a:pt x="0" y="396648"/>
                </a:cubicBezTo>
                <a:lnTo>
                  <a:pt x="0" y="270442"/>
                </a:lnTo>
                <a:cubicBezTo>
                  <a:pt x="0" y="265559"/>
                  <a:pt x="1784" y="261333"/>
                  <a:pt x="5352" y="257765"/>
                </a:cubicBezTo>
                <a:cubicBezTo>
                  <a:pt x="8921" y="254197"/>
                  <a:pt x="13146" y="252412"/>
                  <a:pt x="18029" y="252412"/>
                </a:cubicBezTo>
                <a:close/>
                <a:moveTo>
                  <a:pt x="216353" y="0"/>
                </a:moveTo>
                <a:cubicBezTo>
                  <a:pt x="243773" y="0"/>
                  <a:pt x="270442" y="5212"/>
                  <a:pt x="296359" y="15635"/>
                </a:cubicBezTo>
                <a:cubicBezTo>
                  <a:pt x="322277" y="26058"/>
                  <a:pt x="345282" y="40754"/>
                  <a:pt x="365378" y="59723"/>
                </a:cubicBezTo>
                <a:lnTo>
                  <a:pt x="402001" y="23382"/>
                </a:lnTo>
                <a:cubicBezTo>
                  <a:pt x="405568" y="19814"/>
                  <a:pt x="409794" y="18029"/>
                  <a:pt x="414677" y="18029"/>
                </a:cubicBezTo>
                <a:cubicBezTo>
                  <a:pt x="419560" y="18029"/>
                  <a:pt x="423786" y="19814"/>
                  <a:pt x="427354" y="23382"/>
                </a:cubicBezTo>
                <a:cubicBezTo>
                  <a:pt x="430922" y="26950"/>
                  <a:pt x="432707" y="31176"/>
                  <a:pt x="432707" y="36059"/>
                </a:cubicBezTo>
                <a:lnTo>
                  <a:pt x="432707" y="162265"/>
                </a:lnTo>
                <a:cubicBezTo>
                  <a:pt x="432707" y="167148"/>
                  <a:pt x="430922" y="171374"/>
                  <a:pt x="427354" y="174942"/>
                </a:cubicBezTo>
                <a:cubicBezTo>
                  <a:pt x="423786" y="178510"/>
                  <a:pt x="419560" y="180295"/>
                  <a:pt x="414677" y="180295"/>
                </a:cubicBezTo>
                <a:lnTo>
                  <a:pt x="288471" y="180295"/>
                </a:lnTo>
                <a:cubicBezTo>
                  <a:pt x="283588" y="180295"/>
                  <a:pt x="279362" y="178510"/>
                  <a:pt x="275795" y="174942"/>
                </a:cubicBezTo>
                <a:cubicBezTo>
                  <a:pt x="272226" y="171374"/>
                  <a:pt x="270442" y="167148"/>
                  <a:pt x="270442" y="162265"/>
                </a:cubicBezTo>
                <a:cubicBezTo>
                  <a:pt x="270442" y="157382"/>
                  <a:pt x="272226" y="153157"/>
                  <a:pt x="275795" y="149588"/>
                </a:cubicBezTo>
                <a:lnTo>
                  <a:pt x="314671" y="110712"/>
                </a:lnTo>
                <a:cubicBezTo>
                  <a:pt x="286875" y="84983"/>
                  <a:pt x="254103" y="72118"/>
                  <a:pt x="216353" y="72118"/>
                </a:cubicBezTo>
                <a:cubicBezTo>
                  <a:pt x="191187" y="72118"/>
                  <a:pt x="167711" y="78222"/>
                  <a:pt x="145926" y="90429"/>
                </a:cubicBezTo>
                <a:cubicBezTo>
                  <a:pt x="124140" y="102636"/>
                  <a:pt x="106674" y="119445"/>
                  <a:pt x="93528" y="140855"/>
                </a:cubicBezTo>
                <a:cubicBezTo>
                  <a:pt x="91462" y="144048"/>
                  <a:pt x="86485" y="155035"/>
                  <a:pt x="78597" y="173815"/>
                </a:cubicBezTo>
                <a:cubicBezTo>
                  <a:pt x="77094" y="178135"/>
                  <a:pt x="74277" y="180295"/>
                  <a:pt x="70146" y="180295"/>
                </a:cubicBezTo>
                <a:lnTo>
                  <a:pt x="14086" y="180295"/>
                </a:lnTo>
                <a:cubicBezTo>
                  <a:pt x="11644" y="180295"/>
                  <a:pt x="9531" y="179403"/>
                  <a:pt x="7747" y="177618"/>
                </a:cubicBezTo>
                <a:cubicBezTo>
                  <a:pt x="5963" y="175834"/>
                  <a:pt x="5071" y="173721"/>
                  <a:pt x="5071" y="171280"/>
                </a:cubicBezTo>
                <a:lnTo>
                  <a:pt x="5071" y="169308"/>
                </a:lnTo>
                <a:cubicBezTo>
                  <a:pt x="17278" y="118976"/>
                  <a:pt x="42632" y="78175"/>
                  <a:pt x="81133" y="46905"/>
                </a:cubicBezTo>
                <a:cubicBezTo>
                  <a:pt x="119633" y="15635"/>
                  <a:pt x="164707" y="0"/>
                  <a:pt x="216353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 dirty="0"/>
          </a:p>
        </p:txBody>
      </p:sp>
      <p:pic>
        <p:nvPicPr>
          <p:cNvPr id="52" name="Graphic 4" descr="Gears with solid fill">
            <a:extLst>
              <a:ext uri="{FF2B5EF4-FFF2-40B4-BE49-F238E27FC236}">
                <a16:creationId xmlns:a16="http://schemas.microsoft.com/office/drawing/2014/main" id="{78EC682B-54F3-4CE9-85F4-9119658EF2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91432" y="1957026"/>
            <a:ext cx="1161136" cy="1161136"/>
          </a:xfrm>
          <a:prstGeom prst="rect">
            <a:avLst/>
          </a:prstGeom>
        </p:spPr>
      </p:pic>
      <p:pic>
        <p:nvPicPr>
          <p:cNvPr id="54" name="Graphic 15" descr="Gauge with solid fill">
            <a:extLst>
              <a:ext uri="{FF2B5EF4-FFF2-40B4-BE49-F238E27FC236}">
                <a16:creationId xmlns:a16="http://schemas.microsoft.com/office/drawing/2014/main" id="{3CFD334D-B83C-4E38-B0B1-B6DBDCA382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6874" y="1820667"/>
            <a:ext cx="1433854" cy="143385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C8776295-39EE-4664-9B72-6E96E34B11EE}"/>
              </a:ext>
            </a:extLst>
          </p:cNvPr>
          <p:cNvSpPr txBox="1"/>
          <p:nvPr/>
        </p:nvSpPr>
        <p:spPr>
          <a:xfrm>
            <a:off x="1323272" y="3459192"/>
            <a:ext cx="1414732" cy="396816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 algn="ctr">
              <a:spcAft>
                <a:spcPts val="300"/>
              </a:spcAft>
              <a:buSzPct val="100000"/>
            </a:pPr>
            <a:r>
              <a:rPr lang="en-US" altLang="zh-CN" sz="1600">
                <a:solidFill>
                  <a:schemeClr val="tx2"/>
                </a:solidFill>
              </a:rPr>
              <a:t>Regression</a:t>
            </a:r>
            <a:endParaRPr lang="zh-CN" altLang="en-US" sz="1600" dirty="0">
              <a:solidFill>
                <a:schemeClr val="tx2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9E0A612-94A3-47F8-B80E-7C764D70FEEA}"/>
              </a:ext>
            </a:extLst>
          </p:cNvPr>
          <p:cNvSpPr txBox="1"/>
          <p:nvPr/>
        </p:nvSpPr>
        <p:spPr>
          <a:xfrm>
            <a:off x="3689498" y="3459192"/>
            <a:ext cx="1765004" cy="396816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 algn="ctr">
              <a:spcAft>
                <a:spcPts val="300"/>
              </a:spcAft>
              <a:buSzPct val="100000"/>
            </a:pPr>
            <a:r>
              <a:rPr lang="en-US" altLang="zh-CN" sz="1600" dirty="0">
                <a:solidFill>
                  <a:schemeClr val="tx2"/>
                </a:solidFill>
              </a:rPr>
              <a:t>Feature/Function</a:t>
            </a:r>
            <a:endParaRPr lang="zh-CN" altLang="en-US" sz="1600" dirty="0">
              <a:solidFill>
                <a:schemeClr val="tx2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33ED6B5-CFFF-4079-B3F5-DC3FCD66E498}"/>
              </a:ext>
            </a:extLst>
          </p:cNvPr>
          <p:cNvSpPr txBox="1"/>
          <p:nvPr/>
        </p:nvSpPr>
        <p:spPr>
          <a:xfrm>
            <a:off x="6405996" y="3459192"/>
            <a:ext cx="1414732" cy="396816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 algn="ctr">
              <a:spcAft>
                <a:spcPts val="300"/>
              </a:spcAft>
              <a:buSzPct val="100000"/>
            </a:pPr>
            <a:r>
              <a:rPr lang="en-US" altLang="zh-CN" sz="1600" dirty="0">
                <a:solidFill>
                  <a:schemeClr val="tx2"/>
                </a:solidFill>
              </a:rPr>
              <a:t>Performance</a:t>
            </a:r>
            <a:endParaRPr lang="zh-CN" alt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281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8C7C0A-9FE5-4898-8F72-E5EE689F0A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How to do regression test after MGTS is down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111BDF-1F09-47B2-B57C-75E8AE9AAC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sim2s7.py in regression test</a:t>
            </a:r>
            <a:endParaRPr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C0A802-915C-4DA0-8298-D4BABB2DCF4F}"/>
              </a:ext>
            </a:extLst>
          </p:cNvPr>
          <p:cNvSpPr txBox="1"/>
          <p:nvPr/>
        </p:nvSpPr>
        <p:spPr>
          <a:xfrm>
            <a:off x="417600" y="1285335"/>
            <a:ext cx="8191562" cy="2915729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>
              <a:spcAft>
                <a:spcPts val="300"/>
              </a:spcAft>
              <a:buSzPct val="100000"/>
            </a:pPr>
            <a:r>
              <a:rPr lang="en-US" altLang="zh-CN" dirty="0">
                <a:solidFill>
                  <a:schemeClr val="tx2"/>
                </a:solidFill>
              </a:rPr>
              <a:t>sim2s7.py provides:</a:t>
            </a:r>
          </a:p>
          <a:p>
            <a:pPr>
              <a:spcAft>
                <a:spcPts val="300"/>
              </a:spcAft>
              <a:buSzPct val="100000"/>
            </a:pPr>
            <a:r>
              <a:rPr lang="en-US" altLang="zh-CN" dirty="0">
                <a:solidFill>
                  <a:schemeClr val="tx2"/>
                </a:solidFill>
              </a:rPr>
              <a:t>  </a:t>
            </a:r>
            <a:r>
              <a:rPr lang="zh-CN" altLang="en-US" dirty="0">
                <a:solidFill>
                  <a:schemeClr val="tx2"/>
                </a:solidFill>
              </a:rPr>
              <a:t>👍 </a:t>
            </a:r>
            <a:r>
              <a:rPr lang="en-US" altLang="zh-CN" dirty="0">
                <a:solidFill>
                  <a:schemeClr val="tx2"/>
                </a:solidFill>
              </a:rPr>
              <a:t>faster, higher success rate due to better connection</a:t>
            </a:r>
          </a:p>
          <a:p>
            <a:pPr>
              <a:spcAft>
                <a:spcPts val="300"/>
              </a:spcAft>
              <a:buSzPct val="100000"/>
            </a:pPr>
            <a:r>
              <a:rPr lang="zh-CN" altLang="en-US" dirty="0">
                <a:solidFill>
                  <a:schemeClr val="tx2"/>
                </a:solidFill>
              </a:rPr>
              <a:t>  👍 </a:t>
            </a:r>
            <a:r>
              <a:rPr lang="en-US" altLang="zh-CN" dirty="0">
                <a:solidFill>
                  <a:schemeClr val="tx2"/>
                </a:solidFill>
              </a:rPr>
              <a:t>transparency to </a:t>
            </a:r>
            <a:r>
              <a:rPr lang="en-US" altLang="zh-CN" dirty="0" err="1">
                <a:solidFill>
                  <a:schemeClr val="tx2"/>
                </a:solidFill>
              </a:rPr>
              <a:t>sunit</a:t>
            </a:r>
            <a:r>
              <a:rPr lang="en-US" altLang="zh-CN" dirty="0">
                <a:solidFill>
                  <a:schemeClr val="tx2"/>
                </a:solidFill>
              </a:rPr>
              <a:t> (as introduction in previous slides)</a:t>
            </a:r>
          </a:p>
          <a:p>
            <a:pPr>
              <a:spcAft>
                <a:spcPts val="300"/>
              </a:spcAft>
              <a:buSzPct val="100000"/>
            </a:pPr>
            <a:endParaRPr lang="en-US" altLang="zh-CN" dirty="0">
              <a:solidFill>
                <a:schemeClr val="tx2"/>
              </a:solidFill>
            </a:endParaRPr>
          </a:p>
          <a:p>
            <a:pPr>
              <a:spcAft>
                <a:spcPts val="300"/>
              </a:spcAft>
              <a:buSzPct val="100000"/>
            </a:pPr>
            <a:r>
              <a:rPr lang="en-US" altLang="zh-CN" dirty="0">
                <a:solidFill>
                  <a:schemeClr val="tx2"/>
                </a:solidFill>
              </a:rPr>
              <a:t>So, when MGTS is down, sim2s7.py is a perfect solution in regression test, or even better than MGTS itself</a:t>
            </a:r>
          </a:p>
          <a:p>
            <a:pPr>
              <a:spcAft>
                <a:spcPts val="300"/>
              </a:spcAft>
              <a:buSzPct val="100000"/>
            </a:pPr>
            <a:endParaRPr lang="en-US" altLang="zh-CN" dirty="0">
              <a:solidFill>
                <a:schemeClr val="tx2"/>
              </a:solidFill>
            </a:endParaRPr>
          </a:p>
          <a:p>
            <a:pPr>
              <a:spcAft>
                <a:spcPts val="300"/>
              </a:spcAft>
              <a:buSzPct val="100000"/>
            </a:pPr>
            <a:r>
              <a:rPr lang="en-US" altLang="zh-CN" dirty="0">
                <a:solidFill>
                  <a:schemeClr val="tx2"/>
                </a:solidFill>
              </a:rPr>
              <a:t>Some test was made in </a:t>
            </a:r>
            <a:r>
              <a:rPr lang="en-US" altLang="zh-CN" dirty="0" err="1">
                <a:solidFill>
                  <a:schemeClr val="tx2"/>
                </a:solidFill>
              </a:rPr>
              <a:t>SurepayAR</a:t>
            </a:r>
            <a:r>
              <a:rPr lang="en-US" altLang="zh-CN" dirty="0">
                <a:solidFill>
                  <a:schemeClr val="tx2"/>
                </a:solidFill>
              </a:rPr>
              <a:t> regression test</a:t>
            </a:r>
            <a:endParaRPr lang="zh-CN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099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31D00E-703C-471D-A5F8-DE08D701B5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On SP18.9 ITU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73434F-31A8-452A-BC0E-68B5F8ECA5A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Regression Testing Result of </a:t>
            </a:r>
            <a:r>
              <a:rPr lang="en-US" altLang="zh-CN" dirty="0" err="1"/>
              <a:t>SurepayAR</a:t>
            </a:r>
            <a:r>
              <a:rPr lang="en-US" altLang="zh-CN" dirty="0"/>
              <a:t> MGTS Cases</a:t>
            </a:r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B04CB6-EA00-449D-BD44-6A7A529252F2}"/>
              </a:ext>
            </a:extLst>
          </p:cNvPr>
          <p:cNvSpPr txBox="1"/>
          <p:nvPr/>
        </p:nvSpPr>
        <p:spPr>
          <a:xfrm>
            <a:off x="876299" y="3493387"/>
            <a:ext cx="7591425" cy="1123950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 marL="228600" indent="-228600">
              <a:spcAft>
                <a:spcPts val="300"/>
              </a:spcAft>
              <a:buSzPct val="100000"/>
              <a:buAutoNum type="arabicParenR"/>
            </a:pPr>
            <a:r>
              <a:rPr lang="en-US" altLang="zh-CN" sz="1200" dirty="0">
                <a:solidFill>
                  <a:schemeClr val="tx2"/>
                </a:solidFill>
              </a:rPr>
              <a:t>GOM fs4591, fs4592, state machine uses message template that uses var import, sim2s7 can’t handle, so cases must be changed to use fix import message template</a:t>
            </a:r>
          </a:p>
          <a:p>
            <a:pPr marL="228600" indent="-228600">
              <a:spcAft>
                <a:spcPts val="300"/>
              </a:spcAft>
              <a:buSzPct val="100000"/>
              <a:buAutoNum type="arabicParenR"/>
            </a:pPr>
            <a:r>
              <a:rPr lang="en-US" altLang="zh-CN" sz="1200" dirty="0">
                <a:solidFill>
                  <a:schemeClr val="tx2"/>
                </a:solidFill>
              </a:rPr>
              <a:t>GOM  fv9892, should work on SP19.9</a:t>
            </a:r>
          </a:p>
          <a:p>
            <a:pPr marL="228600" indent="-228600">
              <a:spcAft>
                <a:spcPts val="300"/>
              </a:spcAft>
              <a:buSzPct val="100000"/>
              <a:buAutoNum type="arabicParenR"/>
            </a:pPr>
            <a:r>
              <a:rPr lang="en-US" altLang="zh-CN" sz="1200" dirty="0">
                <a:solidFill>
                  <a:schemeClr val="tx2"/>
                </a:solidFill>
              </a:rPr>
              <a:t>VFNL fv3282, pass after supporting upload + </a:t>
            </a:r>
            <a:r>
              <a:rPr lang="en-US" altLang="zh-CN" sz="1200" dirty="0" err="1">
                <a:solidFill>
                  <a:schemeClr val="tx2"/>
                </a:solidFill>
              </a:rPr>
              <a:t>run_only</a:t>
            </a:r>
            <a:r>
              <a:rPr lang="en-US" altLang="zh-CN" sz="1200" dirty="0">
                <a:solidFill>
                  <a:schemeClr val="tx2"/>
                </a:solidFill>
              </a:rPr>
              <a:t>, fv3283 still failed due to some time issue, need further investigation</a:t>
            </a:r>
            <a:endParaRPr lang="zh-CN" altLang="en-US" sz="1200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28811A-B717-45E6-AC35-52FBFB8D40CD}"/>
              </a:ext>
            </a:extLst>
          </p:cNvPr>
          <p:cNvSpPr txBox="1"/>
          <p:nvPr/>
        </p:nvSpPr>
        <p:spPr>
          <a:xfrm>
            <a:off x="417600" y="1119656"/>
            <a:ext cx="3438525" cy="2074162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r>
              <a:rPr lang="en-US" altLang="zh-CN" sz="1200" dirty="0">
                <a:solidFill>
                  <a:schemeClr val="tx2"/>
                </a:solidFill>
              </a:rPr>
              <a:t>Precondition:</a:t>
            </a:r>
          </a:p>
          <a:p>
            <a:pPr algn="l">
              <a:spcAft>
                <a:spcPts val="300"/>
              </a:spcAft>
              <a:buSzPct val="100000"/>
            </a:pPr>
            <a:r>
              <a:rPr lang="en-US" altLang="zh-CN" sz="1200" dirty="0">
                <a:solidFill>
                  <a:schemeClr val="tx2"/>
                </a:solidFill>
              </a:rPr>
              <a:t>Use CentOS lab 135.242.107.130 to deploy sim2s7.py and state2j.py</a:t>
            </a:r>
          </a:p>
          <a:p>
            <a:pPr algn="l">
              <a:spcAft>
                <a:spcPts val="300"/>
              </a:spcAft>
              <a:buSzPct val="100000"/>
            </a:pPr>
            <a:r>
              <a:rPr lang="en-US" altLang="zh-CN" sz="1200" dirty="0">
                <a:solidFill>
                  <a:schemeClr val="tx2"/>
                </a:solidFill>
              </a:rPr>
              <a:t>Rewrote:</a:t>
            </a:r>
          </a:p>
          <a:p>
            <a:pPr>
              <a:spcAft>
                <a:spcPts val="300"/>
              </a:spcAft>
              <a:buSzPct val="100000"/>
            </a:pPr>
            <a:r>
              <a:rPr lang="en-US" altLang="zh-CN" sz="1200" b="1" dirty="0">
                <a:solidFill>
                  <a:schemeClr val="accent6">
                    <a:lumMod val="50000"/>
                  </a:schemeClr>
                </a:solidFill>
              </a:rPr>
              <a:t>/home/auto/bin/test/auto_case_split.sh  </a:t>
            </a:r>
          </a:p>
          <a:p>
            <a:pPr>
              <a:spcAft>
                <a:spcPts val="300"/>
              </a:spcAft>
              <a:buSzPct val="100000"/>
            </a:pPr>
            <a:r>
              <a:rPr lang="en-US" altLang="zh-CN" sz="1200" b="1" dirty="0">
                <a:solidFill>
                  <a:schemeClr val="accent6">
                    <a:lumMod val="50000"/>
                  </a:schemeClr>
                </a:solidFill>
              </a:rPr>
              <a:t>/home/auto/bin/test/collect_log.sh</a:t>
            </a:r>
          </a:p>
          <a:p>
            <a:pPr>
              <a:spcAft>
                <a:spcPts val="300"/>
              </a:spcAft>
              <a:buSzPct val="100000"/>
            </a:pPr>
            <a:r>
              <a:rPr lang="en-US" altLang="zh-CN" sz="1200" b="1" dirty="0">
                <a:solidFill>
                  <a:schemeClr val="accent6">
                    <a:lumMod val="50000"/>
                  </a:schemeClr>
                </a:solidFill>
              </a:rPr>
              <a:t>/home/auto/bin/test/kill.sh</a:t>
            </a:r>
          </a:p>
          <a:p>
            <a:pPr algn="l">
              <a:spcAft>
                <a:spcPts val="300"/>
              </a:spcAft>
              <a:buSzPct val="100000"/>
            </a:pPr>
            <a:r>
              <a:rPr lang="en-US" altLang="zh-CN" sz="1200" dirty="0">
                <a:solidFill>
                  <a:schemeClr val="tx2"/>
                </a:solidFill>
              </a:rPr>
              <a:t>Then run cases</a:t>
            </a:r>
            <a:endParaRPr lang="zh-CN" altLang="en-US" sz="1200" dirty="0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D8903F-83AE-4688-AD6E-870208031892}"/>
              </a:ext>
            </a:extLst>
          </p:cNvPr>
          <p:cNvSpPr txBox="1"/>
          <p:nvPr/>
        </p:nvSpPr>
        <p:spPr>
          <a:xfrm>
            <a:off x="417600" y="3193818"/>
            <a:ext cx="2392275" cy="462038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r>
              <a:rPr lang="en-US" altLang="zh-CN" sz="1200" dirty="0">
                <a:solidFill>
                  <a:schemeClr val="tx2"/>
                </a:solidFill>
              </a:rPr>
              <a:t>Fail  Reason</a:t>
            </a:r>
            <a:endParaRPr lang="zh-CN" altLang="en-US" sz="1200" dirty="0">
              <a:solidFill>
                <a:schemeClr val="tx2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86F52C7-CABF-4DAB-8E91-DE34866629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149180"/>
              </p:ext>
            </p:extLst>
          </p:nvPr>
        </p:nvGraphicFramePr>
        <p:xfrm>
          <a:off x="3962400" y="1009558"/>
          <a:ext cx="3849602" cy="22943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9483">
                  <a:extLst>
                    <a:ext uri="{9D8B030D-6E8A-4147-A177-3AD203B41FA5}">
                      <a16:colId xmlns:a16="http://schemas.microsoft.com/office/drawing/2014/main" val="1761896805"/>
                    </a:ext>
                  </a:extLst>
                </a:gridCol>
                <a:gridCol w="709483">
                  <a:extLst>
                    <a:ext uri="{9D8B030D-6E8A-4147-A177-3AD203B41FA5}">
                      <a16:colId xmlns:a16="http://schemas.microsoft.com/office/drawing/2014/main" val="4263893658"/>
                    </a:ext>
                  </a:extLst>
                </a:gridCol>
                <a:gridCol w="709483">
                  <a:extLst>
                    <a:ext uri="{9D8B030D-6E8A-4147-A177-3AD203B41FA5}">
                      <a16:colId xmlns:a16="http://schemas.microsoft.com/office/drawing/2014/main" val="1840937849"/>
                    </a:ext>
                  </a:extLst>
                </a:gridCol>
                <a:gridCol w="709483">
                  <a:extLst>
                    <a:ext uri="{9D8B030D-6E8A-4147-A177-3AD203B41FA5}">
                      <a16:colId xmlns:a16="http://schemas.microsoft.com/office/drawing/2014/main" val="3914877648"/>
                    </a:ext>
                  </a:extLst>
                </a:gridCol>
                <a:gridCol w="1011670">
                  <a:extLst>
                    <a:ext uri="{9D8B030D-6E8A-4147-A177-3AD203B41FA5}">
                      <a16:colId xmlns:a16="http://schemas.microsoft.com/office/drawing/2014/main" val="2571627734"/>
                    </a:ext>
                  </a:extLst>
                </a:gridCol>
              </a:tblGrid>
              <a:tr h="208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Customer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Case No.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Pass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Fail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PassRate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89903045"/>
                  </a:ext>
                </a:extLst>
              </a:tr>
              <a:tr h="208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BSNL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100%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14074820"/>
                  </a:ext>
                </a:extLst>
              </a:tr>
              <a:tr h="208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GOM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57%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57727868"/>
                  </a:ext>
                </a:extLst>
              </a:tr>
              <a:tr h="208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VFCZ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100%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35722272"/>
                  </a:ext>
                </a:extLst>
              </a:tr>
              <a:tr h="208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VFGH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100%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0587582"/>
                  </a:ext>
                </a:extLst>
              </a:tr>
              <a:tr h="208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VFHU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100%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7687976"/>
                  </a:ext>
                </a:extLst>
              </a:tr>
              <a:tr h="208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VFI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100%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79108747"/>
                  </a:ext>
                </a:extLst>
              </a:tr>
              <a:tr h="208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VFIE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100%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31436205"/>
                  </a:ext>
                </a:extLst>
              </a:tr>
              <a:tr h="208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VFNL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 dirty="0">
                          <a:effectLst/>
                        </a:rPr>
                        <a:t>8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 dirty="0">
                          <a:effectLst/>
                        </a:rPr>
                        <a:t>88%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45830264"/>
                  </a:ext>
                </a:extLst>
              </a:tr>
              <a:tr h="208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VFQ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 dirty="0">
                          <a:effectLst/>
                        </a:rPr>
                        <a:t>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 dirty="0">
                          <a:effectLst/>
                        </a:rPr>
                        <a:t>0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 dirty="0">
                          <a:effectLst/>
                        </a:rPr>
                        <a:t>100%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44577302"/>
                  </a:ext>
                </a:extLst>
              </a:tr>
              <a:tr h="208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Total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u="none" strike="noStrike" dirty="0">
                          <a:effectLst/>
                        </a:rPr>
                        <a:t>58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u="none" strike="noStrike" dirty="0">
                          <a:effectLst/>
                        </a:rPr>
                        <a:t>54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u="none" strike="noStrike" dirty="0">
                          <a:effectLst/>
                        </a:rPr>
                        <a:t>93%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47940745"/>
                  </a:ext>
                </a:extLst>
              </a:tr>
            </a:tbl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3F3D0011-E21D-4FF0-AB0D-9C413C773B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7755180"/>
              </p:ext>
            </p:extLst>
          </p:nvPr>
        </p:nvGraphicFramePr>
        <p:xfrm>
          <a:off x="7812000" y="1507217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8" name="Worksheet" showAsIcon="1" r:id="rId3" imgW="914400" imgH="771480" progId="Excel.Sheet.12">
                  <p:embed/>
                </p:oleObj>
              </mc:Choice>
              <mc:Fallback>
                <p:oleObj name="Worksheet" showAsIcon="1" r:id="rId3" imgW="91440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12000" y="1507217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13743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E28CE37-1F51-4197-82CC-BC9C9426AD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Some sim2s7.py issues and solutions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1DB40-1290-463F-886F-7C03B0E59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Regression Testing Result of </a:t>
            </a:r>
            <a:r>
              <a:rPr lang="en-US" altLang="zh-CN" dirty="0" err="1"/>
              <a:t>SurepayAR</a:t>
            </a:r>
            <a:r>
              <a:rPr lang="en-US" altLang="zh-CN" dirty="0"/>
              <a:t> MGTS cases</a:t>
            </a:r>
            <a:endParaRPr lang="zh-CN" alt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0E1E057-69CC-4ED8-97EE-E4CF387E1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800354"/>
              </p:ext>
            </p:extLst>
          </p:nvPr>
        </p:nvGraphicFramePr>
        <p:xfrm>
          <a:off x="857250" y="997924"/>
          <a:ext cx="7429500" cy="366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650">
                  <a:extLst>
                    <a:ext uri="{9D8B030D-6E8A-4147-A177-3AD203B41FA5}">
                      <a16:colId xmlns:a16="http://schemas.microsoft.com/office/drawing/2014/main" val="2744764"/>
                    </a:ext>
                  </a:extLst>
                </a:gridCol>
                <a:gridCol w="3752850">
                  <a:extLst>
                    <a:ext uri="{9D8B030D-6E8A-4147-A177-3AD203B41FA5}">
                      <a16:colId xmlns:a16="http://schemas.microsoft.com/office/drawing/2014/main" val="2979025871"/>
                    </a:ext>
                  </a:extLst>
                </a:gridCol>
              </a:tblGrid>
              <a:tr h="523907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issue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solution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22517915"/>
                  </a:ext>
                </a:extLst>
              </a:tr>
              <a:tr h="523907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UDP received might be out of order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rare case, re-run case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54435406"/>
                  </a:ext>
                </a:extLst>
              </a:tr>
              <a:tr h="5239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call duration between answer and disconnect may variate in 1s (e.g. VFNL fv2969)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sim2s7's delay is shorter than mgts, so the only way is re-run case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24347291"/>
                  </a:ext>
                </a:extLst>
              </a:tr>
              <a:tr h="5239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var import (e.g. GOM fs4591) results import value incorrect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change cases because sim2s7 can’t handle this scenario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42201657"/>
                  </a:ext>
                </a:extLst>
              </a:tr>
              <a:tr h="5239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current auto_case_split.sh can't handle combination of "upload" and "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run_only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" mode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will update auto_case_split.sh</a:t>
                      </a:r>
                    </a:p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Updated auto_case_split.sh by involving “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nohup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”, and update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MGTSTask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code timer from 0.01s to 0.03s after starting auto_case_split.sh, because in upload mode, telnet will disconnect, so we have to make it run at background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81573872"/>
                  </a:ext>
                </a:extLst>
              </a:tr>
              <a:tr h="7239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current pseudo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mgts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is slow for the second connection, this is another reason that we can't handle "upload" and "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run_only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" mode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It worked without any action later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60751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91901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4AC0E7-91F5-455D-B88E-6F2C2236203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l="4762"/>
          <a:stretch/>
        </p:blipFill>
        <p:spPr>
          <a:xfrm>
            <a:off x="4191000" y="280800"/>
            <a:ext cx="4953000" cy="2343150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97F346-E53A-4D5C-9534-56E8596983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Share with DFT automation team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42373-A84B-4366-8AF1-65D364F6CD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How to use Pseudo MGTS</a:t>
            </a:r>
            <a:endParaRPr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F998B5-4EFD-41A1-84DC-672CA0BFC1CC}"/>
              </a:ext>
            </a:extLst>
          </p:cNvPr>
          <p:cNvSpPr txBox="1"/>
          <p:nvPr/>
        </p:nvSpPr>
        <p:spPr>
          <a:xfrm>
            <a:off x="417600" y="878456"/>
            <a:ext cx="5524499" cy="4110187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r>
              <a:rPr lang="en-US" altLang="zh-CN" sz="1200" dirty="0">
                <a:solidFill>
                  <a:schemeClr val="tx2"/>
                </a:solidFill>
              </a:rPr>
              <a:t>DFT automation can try this:</a:t>
            </a:r>
          </a:p>
          <a:p>
            <a:pPr algn="l">
              <a:spcAft>
                <a:spcPts val="300"/>
              </a:spcAft>
              <a:buSzPct val="100000"/>
            </a:pPr>
            <a:r>
              <a:rPr lang="en-US" altLang="zh-CN" sz="1200" b="1" dirty="0">
                <a:solidFill>
                  <a:schemeClr val="tx2"/>
                </a:solidFill>
              </a:rPr>
              <a:t>1) </a:t>
            </a:r>
            <a:r>
              <a:rPr lang="en-US" altLang="zh-CN" sz="1200" dirty="0">
                <a:solidFill>
                  <a:schemeClr val="tx2"/>
                </a:solidFill>
              </a:rPr>
              <a:t>Pseudo MGTS </a:t>
            </a:r>
          </a:p>
          <a:p>
            <a:pPr lvl="1">
              <a:spcAft>
                <a:spcPts val="300"/>
              </a:spcAft>
              <a:buSzPct val="100000"/>
            </a:pPr>
            <a:r>
              <a:rPr lang="en-US" altLang="zh-CN" sz="1200" dirty="0" err="1">
                <a:solidFill>
                  <a:schemeClr val="tx2"/>
                </a:solidFill>
              </a:rPr>
              <a:t>ip</a:t>
            </a:r>
            <a:r>
              <a:rPr lang="en-US" altLang="zh-CN" sz="1200" dirty="0">
                <a:solidFill>
                  <a:schemeClr val="tx2"/>
                </a:solidFill>
              </a:rPr>
              <a:t>: 135.242.107.130</a:t>
            </a:r>
          </a:p>
          <a:p>
            <a:pPr lvl="1">
              <a:spcAft>
                <a:spcPts val="300"/>
              </a:spcAft>
              <a:buSzPct val="100000"/>
            </a:pPr>
            <a:r>
              <a:rPr lang="en-US" altLang="zh-CN" sz="1200" dirty="0">
                <a:solidFill>
                  <a:schemeClr val="tx2"/>
                </a:solidFill>
              </a:rPr>
              <a:t>username: </a:t>
            </a:r>
            <a:r>
              <a:rPr lang="en-US" altLang="zh-CN" sz="1200" dirty="0" err="1">
                <a:solidFill>
                  <a:schemeClr val="tx2"/>
                </a:solidFill>
              </a:rPr>
              <a:t>hongweil</a:t>
            </a:r>
            <a:r>
              <a:rPr lang="en-US" altLang="zh-CN" sz="1200" dirty="0">
                <a:solidFill>
                  <a:schemeClr val="tx2"/>
                </a:solidFill>
              </a:rPr>
              <a:t> </a:t>
            </a:r>
          </a:p>
          <a:p>
            <a:pPr lvl="1">
              <a:spcAft>
                <a:spcPts val="300"/>
              </a:spcAft>
              <a:buSzPct val="100000"/>
            </a:pPr>
            <a:r>
              <a:rPr lang="en-US" altLang="zh-CN" sz="1200" dirty="0">
                <a:solidFill>
                  <a:schemeClr val="tx2"/>
                </a:solidFill>
              </a:rPr>
              <a:t>passwd:123456</a:t>
            </a:r>
          </a:p>
          <a:p>
            <a:pPr lvl="0">
              <a:spcAft>
                <a:spcPts val="300"/>
              </a:spcAft>
              <a:buSzPct val="100000"/>
            </a:pPr>
            <a:r>
              <a:rPr lang="en-US" altLang="zh-CN" sz="1200" b="1" dirty="0">
                <a:solidFill>
                  <a:srgbClr val="001135"/>
                </a:solidFill>
              </a:rPr>
              <a:t>2) </a:t>
            </a:r>
            <a:r>
              <a:rPr lang="en-US" altLang="zh-CN" sz="1200" dirty="0">
                <a:solidFill>
                  <a:srgbClr val="001135"/>
                </a:solidFill>
              </a:rPr>
              <a:t>Update above information  and 0.03s timer </a:t>
            </a:r>
          </a:p>
          <a:p>
            <a:pPr lvl="0">
              <a:spcAft>
                <a:spcPts val="300"/>
              </a:spcAft>
              <a:buSzPct val="100000"/>
            </a:pPr>
            <a:r>
              <a:rPr lang="en-US" altLang="zh-CN" sz="1200" dirty="0">
                <a:solidFill>
                  <a:srgbClr val="001135"/>
                </a:solidFill>
              </a:rPr>
              <a:t>in to </a:t>
            </a:r>
            <a:r>
              <a:rPr lang="en-US" altLang="zh-CN" sz="1200" dirty="0" err="1">
                <a:solidFill>
                  <a:srgbClr val="001135"/>
                </a:solidFill>
              </a:rPr>
              <a:t>sunit</a:t>
            </a:r>
            <a:r>
              <a:rPr lang="en-US" altLang="zh-CN" sz="1200" dirty="0">
                <a:solidFill>
                  <a:srgbClr val="001135"/>
                </a:solidFill>
              </a:rPr>
              <a:t> </a:t>
            </a:r>
            <a:r>
              <a:rPr lang="en-US" altLang="zh-CN" sz="1200" dirty="0" err="1">
                <a:solidFill>
                  <a:srgbClr val="001135"/>
                </a:solidFill>
              </a:rPr>
              <a:t>MGTSTask</a:t>
            </a:r>
            <a:r>
              <a:rPr lang="en-US" altLang="zh-CN" sz="1200" dirty="0">
                <a:solidFill>
                  <a:srgbClr val="001135"/>
                </a:solidFill>
              </a:rPr>
              <a:t> code</a:t>
            </a:r>
          </a:p>
          <a:p>
            <a:pPr lvl="0">
              <a:spcAft>
                <a:spcPts val="300"/>
              </a:spcAft>
              <a:buSzPct val="100000"/>
            </a:pPr>
            <a:r>
              <a:rPr lang="en-US" altLang="zh-CN" sz="1200" dirty="0">
                <a:solidFill>
                  <a:srgbClr val="001135"/>
                </a:solidFill>
              </a:rPr>
              <a:t>(need restart </a:t>
            </a:r>
            <a:r>
              <a:rPr lang="en-US" altLang="zh-CN" sz="1200" dirty="0" err="1">
                <a:solidFill>
                  <a:srgbClr val="001135"/>
                </a:solidFill>
              </a:rPr>
              <a:t>sunit</a:t>
            </a:r>
            <a:r>
              <a:rPr lang="en-US" altLang="zh-CN" sz="1200" dirty="0">
                <a:solidFill>
                  <a:srgbClr val="001135"/>
                </a:solidFill>
              </a:rPr>
              <a:t> after updating code)</a:t>
            </a:r>
          </a:p>
          <a:p>
            <a:pPr lvl="0">
              <a:spcAft>
                <a:spcPts val="300"/>
              </a:spcAft>
              <a:buSzPct val="100000"/>
            </a:pPr>
            <a:r>
              <a:rPr lang="en-US" altLang="zh-CN" sz="1200" b="1" dirty="0">
                <a:solidFill>
                  <a:srgbClr val="FF0000"/>
                </a:solidFill>
              </a:rPr>
              <a:t>&lt; </a:t>
            </a:r>
            <a:r>
              <a:rPr lang="en-US" altLang="zh-CN" sz="1200" b="1" dirty="0" err="1">
                <a:solidFill>
                  <a:srgbClr val="FF0000"/>
                </a:solidFill>
              </a:rPr>
              <a:t>dir</a:t>
            </a:r>
            <a:r>
              <a:rPr lang="en-US" altLang="zh-CN" sz="1200" b="1" dirty="0">
                <a:solidFill>
                  <a:srgbClr val="FF0000"/>
                </a:solidFill>
              </a:rPr>
              <a:t>&gt;\Sublime_text_x64\Data\Packages\Surepay\libs\mgts_task.py</a:t>
            </a:r>
          </a:p>
          <a:p>
            <a:pPr lvl="0">
              <a:spcAft>
                <a:spcPts val="300"/>
              </a:spcAft>
              <a:buSzPct val="100000"/>
            </a:pPr>
            <a:r>
              <a:rPr lang="en-US" altLang="zh-CN" sz="1200" b="1" dirty="0">
                <a:solidFill>
                  <a:srgbClr val="001135"/>
                </a:solidFill>
              </a:rPr>
              <a:t>3) </a:t>
            </a:r>
            <a:r>
              <a:rPr lang="en-US" altLang="zh-CN" sz="1200" dirty="0" err="1">
                <a:solidFill>
                  <a:srgbClr val="001135"/>
                </a:solidFill>
              </a:rPr>
              <a:t>Pseusdo</a:t>
            </a:r>
            <a:r>
              <a:rPr lang="en-US" altLang="zh-CN" sz="1200" dirty="0">
                <a:solidFill>
                  <a:srgbClr val="001135"/>
                </a:solidFill>
              </a:rPr>
              <a:t> MGTS related scripts:</a:t>
            </a:r>
          </a:p>
          <a:p>
            <a:pPr lvl="0">
              <a:spcAft>
                <a:spcPts val="300"/>
              </a:spcAft>
              <a:buSzPct val="100000"/>
            </a:pPr>
            <a:r>
              <a:rPr lang="en-US" altLang="zh-CN" sz="1200" dirty="0">
                <a:solidFill>
                  <a:srgbClr val="001135"/>
                </a:solidFill>
              </a:rPr>
              <a:t>On 135.242.107.130(</a:t>
            </a:r>
            <a:r>
              <a:rPr lang="en-US" altLang="zh-CN" sz="1200" dirty="0" err="1">
                <a:solidFill>
                  <a:srgbClr val="001135"/>
                </a:solidFill>
              </a:rPr>
              <a:t>hongweil</a:t>
            </a:r>
            <a:r>
              <a:rPr lang="en-US" altLang="zh-CN" sz="1200" dirty="0">
                <a:solidFill>
                  <a:srgbClr val="001135"/>
                </a:solidFill>
              </a:rPr>
              <a:t>/123456):</a:t>
            </a:r>
          </a:p>
          <a:p>
            <a:pPr lvl="0">
              <a:spcAft>
                <a:spcPts val="300"/>
              </a:spcAft>
              <a:buSzPct val="100000"/>
            </a:pPr>
            <a:r>
              <a:rPr lang="en-US" altLang="zh-CN" sz="1200" dirty="0">
                <a:solidFill>
                  <a:srgbClr val="001135"/>
                </a:solidFill>
              </a:rPr>
              <a:t>/home/auto/bin/test/sim2s7.py</a:t>
            </a:r>
          </a:p>
          <a:p>
            <a:pPr lvl="0">
              <a:spcAft>
                <a:spcPts val="300"/>
              </a:spcAft>
              <a:buSzPct val="100000"/>
            </a:pPr>
            <a:r>
              <a:rPr lang="en-US" altLang="zh-CN" sz="1200" dirty="0">
                <a:solidFill>
                  <a:srgbClr val="001135"/>
                </a:solidFill>
              </a:rPr>
              <a:t>/home/auto/bin/test/states2j.py</a:t>
            </a:r>
          </a:p>
          <a:p>
            <a:pPr lvl="0">
              <a:spcAft>
                <a:spcPts val="300"/>
              </a:spcAft>
              <a:buSzPct val="100000"/>
            </a:pPr>
            <a:endParaRPr lang="en-US" altLang="zh-CN" sz="1200" dirty="0">
              <a:solidFill>
                <a:srgbClr val="001135"/>
              </a:solidFill>
            </a:endParaRPr>
          </a:p>
          <a:p>
            <a:pPr lvl="0">
              <a:spcAft>
                <a:spcPts val="300"/>
              </a:spcAft>
              <a:buSzPct val="100000"/>
            </a:pPr>
            <a:r>
              <a:rPr lang="en-US" altLang="zh-CN" sz="1200" dirty="0">
                <a:solidFill>
                  <a:srgbClr val="001135"/>
                </a:solidFill>
              </a:rPr>
              <a:t>/home/auto/bin/test/auto_case_split.sh</a:t>
            </a:r>
          </a:p>
          <a:p>
            <a:pPr lvl="0">
              <a:spcAft>
                <a:spcPts val="300"/>
              </a:spcAft>
              <a:buSzPct val="100000"/>
            </a:pPr>
            <a:r>
              <a:rPr lang="en-US" altLang="zh-CN" sz="1200" dirty="0">
                <a:solidFill>
                  <a:srgbClr val="001135"/>
                </a:solidFill>
              </a:rPr>
              <a:t>/home/auto/bin/test/pseudo_auto_case_split.sh</a:t>
            </a:r>
          </a:p>
          <a:p>
            <a:pPr lvl="0">
              <a:spcAft>
                <a:spcPts val="300"/>
              </a:spcAft>
              <a:buSzPct val="100000"/>
            </a:pPr>
            <a:r>
              <a:rPr lang="en-US" altLang="zh-CN" sz="1200" dirty="0">
                <a:solidFill>
                  <a:srgbClr val="001135"/>
                </a:solidFill>
              </a:rPr>
              <a:t>/home/auto/bin/test/kill.sh</a:t>
            </a:r>
          </a:p>
          <a:p>
            <a:pPr lvl="0">
              <a:spcAft>
                <a:spcPts val="300"/>
              </a:spcAft>
              <a:buSzPct val="100000"/>
            </a:pPr>
            <a:r>
              <a:rPr lang="en-US" altLang="zh-CN" sz="1200" dirty="0">
                <a:solidFill>
                  <a:srgbClr val="001135"/>
                </a:solidFill>
              </a:rPr>
              <a:t>/home/auto/bin/test/collect_log.sh</a:t>
            </a:r>
          </a:p>
          <a:p>
            <a:pPr lvl="0">
              <a:spcAft>
                <a:spcPts val="300"/>
              </a:spcAft>
              <a:buSzPct val="100000"/>
            </a:pPr>
            <a:endParaRPr lang="en-US" altLang="zh-CN" sz="1200" dirty="0">
              <a:solidFill>
                <a:srgbClr val="001135"/>
              </a:solidFill>
            </a:endParaRPr>
          </a:p>
          <a:p>
            <a:pPr lvl="1">
              <a:spcAft>
                <a:spcPts val="300"/>
              </a:spcAft>
              <a:buSzPct val="100000"/>
            </a:pPr>
            <a:endParaRPr lang="en-US" altLang="zh-CN" sz="12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A7536B-F6A5-40BD-93F8-F9A34B59EFC7}"/>
              </a:ext>
            </a:extLst>
          </p:cNvPr>
          <p:cNvSpPr txBox="1"/>
          <p:nvPr/>
        </p:nvSpPr>
        <p:spPr>
          <a:xfrm>
            <a:off x="4191000" y="4143224"/>
            <a:ext cx="4953000" cy="1000275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r>
              <a:rPr lang="en-US" altLang="zh-CN" sz="1400" b="1" dirty="0">
                <a:solidFill>
                  <a:srgbClr val="FF0000"/>
                </a:solidFill>
              </a:rPr>
              <a:t>NOTE: </a:t>
            </a:r>
          </a:p>
          <a:p>
            <a:pPr marL="342900" indent="-342900" algn="l">
              <a:spcAft>
                <a:spcPts val="300"/>
              </a:spcAft>
              <a:buSzPct val="100000"/>
              <a:buAutoNum type="arabicParenR"/>
            </a:pPr>
            <a:r>
              <a:rPr lang="en-US" altLang="zh-CN" sz="1400" b="1" dirty="0">
                <a:solidFill>
                  <a:srgbClr val="FF0000"/>
                </a:solidFill>
              </a:rPr>
              <a:t>To support upload + </a:t>
            </a:r>
            <a:r>
              <a:rPr lang="en-US" altLang="zh-CN" sz="1400" b="1" dirty="0" err="1">
                <a:solidFill>
                  <a:srgbClr val="FF0000"/>
                </a:solidFill>
              </a:rPr>
              <a:t>run_only</a:t>
            </a:r>
            <a:r>
              <a:rPr lang="en-US" altLang="zh-CN" sz="1400" b="1" dirty="0">
                <a:solidFill>
                  <a:srgbClr val="FF0000"/>
                </a:solidFill>
              </a:rPr>
              <a:t> mode, update sleep timer from 0.01s to 0.03s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C9F458-DA8D-424E-97F0-2FD0A9C4D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0" y="2911413"/>
            <a:ext cx="4953000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509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8C7C0A-9FE5-4898-8F72-E5EE689F0A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How to do feature test after MGTS is down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111BDF-1F09-47B2-B57C-75E8AE9AAC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sim2s7.py in feature test</a:t>
            </a:r>
            <a:endParaRPr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C0A802-915C-4DA0-8298-D4BABB2DCF4F}"/>
              </a:ext>
            </a:extLst>
          </p:cNvPr>
          <p:cNvSpPr txBox="1"/>
          <p:nvPr/>
        </p:nvSpPr>
        <p:spPr>
          <a:xfrm>
            <a:off x="417600" y="1104181"/>
            <a:ext cx="8191562" cy="3174521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>
              <a:spcAft>
                <a:spcPts val="300"/>
              </a:spcAft>
              <a:buSzPct val="100000"/>
            </a:pPr>
            <a:r>
              <a:rPr lang="en-US" altLang="zh-CN" dirty="0">
                <a:solidFill>
                  <a:schemeClr val="tx2"/>
                </a:solidFill>
              </a:rPr>
              <a:t>There are two scenarios for feature test</a:t>
            </a:r>
          </a:p>
          <a:p>
            <a:pPr>
              <a:spcAft>
                <a:spcPts val="300"/>
              </a:spcAft>
              <a:buSzPct val="100000"/>
            </a:pPr>
            <a:endParaRPr lang="en-US" altLang="zh-CN" dirty="0">
              <a:solidFill>
                <a:schemeClr val="tx2"/>
              </a:solidFill>
            </a:endParaRPr>
          </a:p>
          <a:p>
            <a:pPr>
              <a:spcAft>
                <a:spcPts val="300"/>
              </a:spcAft>
              <a:buSzPct val="100000"/>
            </a:pPr>
            <a:r>
              <a:rPr lang="en-US" altLang="zh-CN" dirty="0">
                <a:solidFill>
                  <a:schemeClr val="tx2"/>
                </a:solidFill>
              </a:rPr>
              <a:t>1) For basic calls’ state machines, no big change to ss7 messages(e.g. only need update parameter’s value), sim2s7.py can be used in feature test</a:t>
            </a:r>
          </a:p>
          <a:p>
            <a:pPr>
              <a:spcAft>
                <a:spcPts val="300"/>
              </a:spcAft>
              <a:buSzPct val="100000"/>
            </a:pPr>
            <a:endParaRPr lang="en-US" altLang="zh-CN" dirty="0">
              <a:solidFill>
                <a:schemeClr val="tx2"/>
              </a:solidFill>
            </a:endParaRPr>
          </a:p>
          <a:p>
            <a:pPr>
              <a:spcAft>
                <a:spcPts val="300"/>
              </a:spcAft>
              <a:buSzPct val="100000"/>
            </a:pPr>
            <a:r>
              <a:rPr lang="en-US" altLang="zh-CN" dirty="0">
                <a:solidFill>
                  <a:schemeClr val="tx2"/>
                </a:solidFill>
              </a:rPr>
              <a:t>2) For cases that need add new parameters or update parameter length(USSD, IVR), then it is not convenient to use sim2s7.py, because:</a:t>
            </a:r>
          </a:p>
          <a:p>
            <a:pPr marL="285750" indent="-2857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2"/>
                </a:solidFill>
              </a:rPr>
              <a:t>It is hard </a:t>
            </a:r>
            <a:r>
              <a:rPr lang="en-US" altLang="zh-CN">
                <a:solidFill>
                  <a:schemeClr val="tx2"/>
                </a:solidFill>
              </a:rPr>
              <a:t>to get/edit </a:t>
            </a:r>
            <a:r>
              <a:rPr lang="en-US" altLang="zh-CN" dirty="0">
                <a:solidFill>
                  <a:schemeClr val="tx2"/>
                </a:solidFill>
              </a:rPr>
              <a:t>ss7 message’s raw data, so sim2s7.py has no input</a:t>
            </a:r>
          </a:p>
          <a:p>
            <a:pPr marL="285750" indent="-2857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2"/>
                </a:solidFill>
              </a:rPr>
              <a:t>It is hard to debug the message received from OCS, because it is raw data too, not readable </a:t>
            </a:r>
            <a:endParaRPr lang="zh-CN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29569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8C7C0A-9FE5-4898-8F72-E5EE689F0A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How to do performance test after MGTS is down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111BDF-1F09-47B2-B57C-75E8AE9AAC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sim2s7.py in performance test</a:t>
            </a:r>
            <a:endParaRPr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C0A802-915C-4DA0-8298-D4BABB2DCF4F}"/>
              </a:ext>
            </a:extLst>
          </p:cNvPr>
          <p:cNvSpPr txBox="1"/>
          <p:nvPr/>
        </p:nvSpPr>
        <p:spPr>
          <a:xfrm>
            <a:off x="417600" y="1209600"/>
            <a:ext cx="8191562" cy="3019245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>
              <a:spcAft>
                <a:spcPts val="300"/>
              </a:spcAft>
              <a:buSzPct val="100000"/>
            </a:pPr>
            <a:r>
              <a:rPr lang="en-US" altLang="zh-CN" dirty="0">
                <a:solidFill>
                  <a:schemeClr val="tx2"/>
                </a:solidFill>
              </a:rPr>
              <a:t>Because performance test uses </a:t>
            </a:r>
            <a:r>
              <a:rPr lang="en-US" altLang="zh-CN" dirty="0" err="1">
                <a:solidFill>
                  <a:schemeClr val="tx2"/>
                </a:solidFill>
              </a:rPr>
              <a:t>hardshelf</a:t>
            </a:r>
            <a:r>
              <a:rPr lang="en-US" altLang="zh-CN" dirty="0">
                <a:solidFill>
                  <a:schemeClr val="tx2"/>
                </a:solidFill>
              </a:rPr>
              <a:t>, it uses different protocols, requires specific hardware, which is a totally different mechanism</a:t>
            </a:r>
          </a:p>
          <a:p>
            <a:pPr>
              <a:spcAft>
                <a:spcPts val="300"/>
              </a:spcAft>
              <a:buSzPct val="100000"/>
            </a:pPr>
            <a:endParaRPr lang="en-US" altLang="zh-CN" dirty="0">
              <a:solidFill>
                <a:schemeClr val="tx2"/>
              </a:solidFill>
            </a:endParaRPr>
          </a:p>
          <a:p>
            <a:pPr>
              <a:spcAft>
                <a:spcPts val="300"/>
              </a:spcAft>
              <a:buSzPct val="100000"/>
            </a:pPr>
            <a:endParaRPr lang="en-US" altLang="zh-CN" dirty="0">
              <a:solidFill>
                <a:schemeClr val="tx2"/>
              </a:solidFill>
            </a:endParaRPr>
          </a:p>
          <a:p>
            <a:pPr>
              <a:spcAft>
                <a:spcPts val="300"/>
              </a:spcAft>
              <a:buSzPct val="100000"/>
            </a:pPr>
            <a:r>
              <a:rPr lang="en-US" altLang="zh-CN" dirty="0">
                <a:solidFill>
                  <a:schemeClr val="tx2"/>
                </a:solidFill>
              </a:rPr>
              <a:t>So, nothing sim2s7.py can do in performance test</a:t>
            </a:r>
            <a:endParaRPr lang="zh-CN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5896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89994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kNVv_pMU4uBVTXM_gkdCQ"/>
</p:tagLst>
</file>

<file path=ppt/theme/theme1.xml><?xml version="1.0" encoding="utf-8"?>
<a:theme xmlns:a="http://schemas.openxmlformats.org/drawingml/2006/main" name="1 White Master">
  <a:themeElements>
    <a:clrScheme name="C 2018 Nokia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124191"/>
      </a:hlink>
      <a:folHlink>
        <a:srgbClr val="001135"/>
      </a:folHlink>
    </a:clrScheme>
    <a:fontScheme name="Nokia 2018">
      <a:majorFont>
        <a:latin typeface="Nokia Pure Headline Light"/>
        <a:ea typeface=""/>
        <a:cs typeface=""/>
      </a:majorFont>
      <a:minorFont>
        <a:latin typeface="Nokia Pure Text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spcAft>
            <a:spcPts val="300"/>
          </a:spcAft>
          <a:buSzPct val="100000"/>
          <a:defRPr sz="12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72000" tIns="72000" rIns="72000" bIns="72000" rtlCol="0">
        <a:noAutofit/>
      </a:bodyPr>
      <a:lstStyle>
        <a:defPPr algn="l">
          <a:spcAft>
            <a:spcPts val="300"/>
          </a:spcAft>
          <a:buSzPct val="100000"/>
          <a:defRPr sz="120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okia Pure PowerPoint" id="{E7D3A715-BCA4-4FF0-8514-18648E1E37B4}" vid="{BEDE3391-55BB-4B7A-88ED-7B8E863A05E3}"/>
    </a:ext>
  </a:extLst>
</a:theme>
</file>

<file path=ppt/theme/theme2.xml><?xml version="1.0" encoding="utf-8"?>
<a:theme xmlns:a="http://schemas.openxmlformats.org/drawingml/2006/main" name="1_c 2018 Nokia">
  <a:themeElements>
    <a:clrScheme name="C 2018 Nokia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124191"/>
      </a:hlink>
      <a:folHlink>
        <a:srgbClr val="001135"/>
      </a:folHlink>
    </a:clrScheme>
    <a:fontScheme name="Nokia 2018">
      <a:majorFont>
        <a:latin typeface="Nokia Pure Headline Light"/>
        <a:ea typeface=""/>
        <a:cs typeface=""/>
      </a:majorFont>
      <a:minorFont>
        <a:latin typeface="Nokia Pure Text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spcAft>
            <a:spcPts val="300"/>
          </a:spcAft>
          <a:buSzPct val="100000"/>
          <a:defRPr sz="12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72000" tIns="72000" rIns="72000" bIns="72000" rtlCol="0">
        <a:noAutofit/>
      </a:bodyPr>
      <a:lstStyle>
        <a:defPPr algn="l">
          <a:spcAft>
            <a:spcPts val="300"/>
          </a:spcAft>
          <a:buSzPct val="100000"/>
          <a:defRPr sz="120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okia Pure PowerPoint" id="{E7D3A715-BCA4-4FF0-8514-18648E1E37B4}" vid="{665C082A-3923-4340-8139-D54FA72A1F5F}"/>
    </a:ext>
  </a:extLst>
</a:theme>
</file>

<file path=ppt/theme/theme3.xml><?xml version="1.0" encoding="utf-8"?>
<a:theme xmlns:a="http://schemas.openxmlformats.org/drawingml/2006/main" name="3_Blue">
  <a:themeElements>
    <a:clrScheme name="C 2018 Nokia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124191"/>
      </a:hlink>
      <a:folHlink>
        <a:srgbClr val="00113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okia Pure PowerPoint" id="{E7D3A715-BCA4-4FF0-8514-18648E1E37B4}" vid="{887CD914-5D67-414F-AC75-DE4EDE56E26D}"/>
    </a:ext>
  </a:extLst>
</a:theme>
</file>

<file path=ppt/theme/theme4.xml><?xml version="1.0" encoding="utf-8"?>
<a:theme xmlns:a="http://schemas.openxmlformats.org/drawingml/2006/main" name="4_Blue End Slide">
  <a:themeElements>
    <a:clrScheme name="C 2018 Nokia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124191"/>
      </a:hlink>
      <a:folHlink>
        <a:srgbClr val="00113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okia Pure PowerPoint" id="{E7D3A715-BCA4-4FF0-8514-18648E1E37B4}" vid="{B4DF7E10-8709-4F04-B584-7D1C5589BF1D}"/>
    </a:ext>
  </a:extLst>
</a:theme>
</file>

<file path=ppt/theme/theme5.xml><?xml version="1.0" encoding="utf-8"?>
<a:theme xmlns:a="http://schemas.openxmlformats.org/drawingml/2006/main" name="5_White End Slide">
  <a:themeElements>
    <a:clrScheme name="C 2018 Nokia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124191"/>
      </a:hlink>
      <a:folHlink>
        <a:srgbClr val="00113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okia Pure PowerPoint" id="{E7D3A715-BCA4-4FF0-8514-18648E1E37B4}" vid="{ABE31CFE-BF4F-482A-BFB3-82F8AAD3E760}"/>
    </a:ext>
  </a:extLst>
</a:theme>
</file>

<file path=ppt/theme/theme6.xml><?xml version="1.0" encoding="utf-8"?>
<a:theme xmlns:a="http://schemas.openxmlformats.org/drawingml/2006/main" name="6_Gray">
  <a:themeElements>
    <a:clrScheme name="C 2018 Nokia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124191"/>
      </a:hlink>
      <a:folHlink>
        <a:srgbClr val="00113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okia Pure PowerPoint" id="{E7D3A715-BCA4-4FF0-8514-18648E1E37B4}" vid="{E7E2DBD5-114A-4BDB-A42B-BBC80CB9E153}"/>
    </a:ext>
  </a:extLst>
</a:theme>
</file>

<file path=ppt/theme/theme7.xml><?xml version="1.0" encoding="utf-8"?>
<a:theme xmlns:a="http://schemas.openxmlformats.org/drawingml/2006/main" name="1_Nokia_Pure_PPT_CORP_V2">
  <a:themeElements>
    <a:clrScheme name="Nokia 120515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0645AD"/>
      </a:hlink>
      <a:folHlink>
        <a:srgbClr val="0B0080"/>
      </a:folHlink>
    </a:clrScheme>
    <a:fontScheme name="Nokia Pure">
      <a:majorFont>
        <a:latin typeface="Nokia Pure Headline Light"/>
        <a:ea typeface=""/>
        <a:cs typeface=""/>
      </a:majorFont>
      <a:minorFont>
        <a:latin typeface="Nokia Pure T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 fontAlgn="auto">
          <a:spcBef>
            <a:spcPts val="0"/>
          </a:spcBef>
          <a:spcAft>
            <a:spcPts val="0"/>
          </a:spcAft>
          <a:defRPr sz="1200" dirty="0" err="1" smtClean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 cmpd="sng">
          <a:solidFill>
            <a:schemeClr val="bg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72000" tIns="72000" rIns="72000" bIns="72000" rtlCol="0">
        <a:spAutoFit/>
      </a:bodyPr>
      <a:lstStyle>
        <a:defPPr marR="0" algn="l" defTabSz="457200" rtl="0" eaLnBrk="1" fontAlgn="base" latinLnBrk="0" hangingPunct="1">
          <a:lnSpc>
            <a:spcPct val="100000"/>
          </a:lnSpc>
          <a:spcBef>
            <a:spcPts val="0"/>
          </a:spcBef>
          <a:spcAft>
            <a:spcPct val="0"/>
          </a:spcAft>
          <a:buClr>
            <a:srgbClr val="001135"/>
          </a:buClr>
          <a:buSzTx/>
          <a:tabLst/>
          <a:defRPr sz="1400" dirty="0" smtClean="0">
            <a:solidFill>
              <a:schemeClr val="tx2"/>
            </a:solidFill>
            <a:latin typeface="+mn-lt"/>
            <a:ea typeface="Nokia Pure Text" panose="020B0503020202020204" pitchFamily="34" charset="0"/>
            <a:cs typeface="Nokia Pure Headline Ligh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okia_Pure_PPT_CORP_V3.1" id="{655C0B4C-DD58-4366-A06D-BF0A1B81A469}" vid="{6AA74208-B53C-4696-ADC1-7541119D5A96}"/>
    </a:ext>
  </a:extLst>
</a:theme>
</file>

<file path=ppt/theme/theme8.xml><?xml version="1.0" encoding="utf-8"?>
<a:theme xmlns:a="http://schemas.openxmlformats.org/drawingml/2006/main" name="4_1 White Master">
  <a:themeElements>
    <a:clrScheme name="C 2018 Nokia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124191"/>
      </a:hlink>
      <a:folHlink>
        <a:srgbClr val="001135"/>
      </a:folHlink>
    </a:clrScheme>
    <a:fontScheme name="Nokia 2018">
      <a:majorFont>
        <a:latin typeface="Nokia Pure Headline Light"/>
        <a:ea typeface=""/>
        <a:cs typeface=""/>
      </a:majorFont>
      <a:minorFont>
        <a:latin typeface="Nokia Pure Text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spcAft>
            <a:spcPts val="300"/>
          </a:spcAft>
          <a:buSzPct val="100000"/>
          <a:defRPr sz="12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72000" tIns="72000" rIns="72000" bIns="72000" rtlCol="0">
        <a:noAutofit/>
      </a:bodyPr>
      <a:lstStyle>
        <a:defPPr algn="l">
          <a:spcAft>
            <a:spcPts val="300"/>
          </a:spcAft>
          <a:buSzPct val="100000"/>
          <a:defRPr sz="120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okia Pure presentation toolkit" id="{2A1F6F6D-1C49-4FB8-B10E-E4FB95F9BB51}" vid="{E4E34404-53E9-4405-99DC-47D064DD5325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HideFromDelve xmlns="71c5aaf6-e6ce-465b-b873-5148d2a4c105">false</HideFromDelve>
    <_dlc_DocId xmlns="71c5aaf6-e6ce-465b-b873-5148d2a4c105">3AIRPRLIAST4-1393170659-5177</_dlc_DocId>
    <_dlc_DocIdUrl xmlns="71c5aaf6-e6ce-465b-b873-5148d2a4c105">
      <Url>https://nokia.sharepoint.com/sites/grts/_layouts/15/DocIdRedir.aspx?ID=3AIRPRLIAST4-1393170659-5177</Url>
      <Description>3AIRPRLIAST4-1393170659-5177</Description>
    </_dlc_DocIdUrl>
    <Owner xmlns="71c5aaf6-e6ce-465b-b873-5148d2a4c105" xsi:nil="true"/>
    <DocumentType xmlns="71c5aaf6-e6ce-465b-b873-5148d2a4c105">Description</DocumentType>
    <NokiaConfidentiality xmlns="71c5aaf6-e6ce-465b-b873-5148d2a4c105">Nokia Internal Use</NokiaConfidentiality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Nokia Document" ma:contentTypeID="0x010100CE50E52E7543470BBDD3827FE50C59CB001049700F2E50E943A3536B3836016048" ma:contentTypeVersion="51" ma:contentTypeDescription="Create Nokia Word Document" ma:contentTypeScope="" ma:versionID="851ac9b4ed441c2f125c11e627ac8a76">
  <xsd:schema xmlns:xsd="http://www.w3.org/2001/XMLSchema" xmlns:xs="http://www.w3.org/2001/XMLSchema" xmlns:p="http://schemas.microsoft.com/office/2006/metadata/properties" xmlns:ns2="71c5aaf6-e6ce-465b-b873-5148d2a4c105" targetNamespace="http://schemas.microsoft.com/office/2006/metadata/properties" ma:root="true" ma:fieldsID="ece4ced7f7bf4faff69aeb949da6ca52" ns2:_="">
    <xsd:import namespace="71c5aaf6-e6ce-465b-b873-5148d2a4c105"/>
    <xsd:element name="properties">
      <xsd:complexType>
        <xsd:sequence>
          <xsd:element name="documentManagement">
            <xsd:complexType>
              <xsd:all>
                <xsd:element ref="ns2:DocumentType" minOccurs="0"/>
                <xsd:element ref="ns2:NokiaConfidentiality" minOccurs="0"/>
                <xsd:element ref="ns2:Owner" minOccurs="0"/>
                <xsd:element ref="ns2:_dlc_DocId" minOccurs="0"/>
                <xsd:element ref="ns2:_dlc_DocIdUrl" minOccurs="0"/>
                <xsd:element ref="ns2:_dlc_DocIdPersistId" minOccurs="0"/>
                <xsd:element ref="ns2:HideFromDelv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c5aaf6-e6ce-465b-b873-5148d2a4c105" elementFormDefault="qualified">
    <xsd:import namespace="http://schemas.microsoft.com/office/2006/documentManagement/types"/>
    <xsd:import namespace="http://schemas.microsoft.com/office/infopath/2007/PartnerControls"/>
    <xsd:element name="DocumentType" ma:index="8" nillable="true" ma:displayName="Document Type" ma:default="Description" ma:description="Document type specifies the content of the document" ma:format="Dropdown" ma:internalName="DocumentType" ma:readOnly="false">
      <xsd:simpleType>
        <xsd:restriction base="dms:Choice">
          <xsd:enumeration value="Policy"/>
          <xsd:enumeration value="Strategy"/>
          <xsd:enumeration value="Objectives / Targets"/>
          <xsd:enumeration value="Plan / Schedule"/>
          <xsd:enumeration value="Governance"/>
          <xsd:enumeration value="Organization"/>
          <xsd:enumeration value="Review Material"/>
          <xsd:enumeration value="Communication"/>
          <xsd:enumeration value="Minutes"/>
          <xsd:enumeration value="Training"/>
          <xsd:enumeration value="Standard Operating Procedure"/>
          <xsd:enumeration value="Process / Procedure / Standard"/>
          <xsd:enumeration value="Guideline / Manual / Instruction"/>
          <xsd:enumeration value="Description"/>
          <xsd:enumeration value="Form / Template"/>
          <xsd:enumeration value="Checklist"/>
          <xsd:enumeration value="Bid / Offer"/>
          <xsd:enumeration value="Contract / Order"/>
          <xsd:enumeration value="List"/>
          <xsd:enumeration value="Roadmap"/>
          <xsd:enumeration value="Requirement / Specification"/>
          <xsd:enumeration value="Design"/>
          <xsd:enumeration value="Concept / Proposal"/>
          <xsd:enumeration value="Measurement / KPI"/>
          <xsd:enumeration value="Report"/>
          <xsd:enumeration value="Best Practice / Lessons Learnt"/>
          <xsd:enumeration value="Analysis / Assessment"/>
          <xsd:enumeration value="Survey"/>
        </xsd:restriction>
      </xsd:simpleType>
    </xsd:element>
    <xsd:element name="NokiaConfidentiality" ma:index="9" nillable="true" ma:displayName="Nokia Confidentiality" ma:default="Nokia Internal Use" ma:format="Dropdown" ma:internalName="NokiaConfidentiality" ma:readOnly="false">
      <xsd:simpleType>
        <xsd:restriction base="dms:Choice">
          <xsd:enumeration value="Nokia Internal Use"/>
          <xsd:enumeration value="Confidential"/>
          <xsd:enumeration value="Secret"/>
          <xsd:enumeration value="Public"/>
        </xsd:restriction>
      </xsd:simpleType>
    </xsd:element>
    <xsd:element name="Owner" ma:index="10" nillable="true" ma:displayName="Owner" ma:description="Owner identifies the person or group who owns the document (default value is the same as the Creator of the document)" ma:internalName="Owner">
      <xsd:simpleType>
        <xsd:restriction base="dms:Text"/>
      </xsd:simpleType>
    </xsd:element>
    <xsd:element name="_dlc_DocId" ma:index="11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2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3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HideFromDelve" ma:index="14" nillable="true" ma:displayName="HideFromDelve" ma:default="0" ma:internalName="HideFromDelv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customXsn xmlns="http://schemas.microsoft.com/office/2006/metadata/customXsn">
  <xsnLocation/>
  <cached>True</cached>
  <openByDefault>True</openByDefault>
  <xsnScope/>
</customXsn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5.xml><?xml version="1.0" encoding="utf-8"?>
<?mso-contentType ?>
<SharedContentType xmlns="Microsoft.SharePoint.Taxonomy.ContentTypeSync" SourceId="939405ac-235b-4c6a-9859-c70ae8c02984" ContentTypeId="0x010100CE50E52E7543470BBDD3827FE50C59CB" PreviousValue="true"/>
</file>

<file path=customXml/item6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1A5087E-D875-4389-9B23-8434F51180AC}">
  <ds:schemaRefs>
    <ds:schemaRef ds:uri="http://schemas.microsoft.com/office/2006/documentManagement/types"/>
    <ds:schemaRef ds:uri="http://purl.org/dc/elements/1.1/"/>
    <ds:schemaRef ds:uri="12bbbc51-f7e9-481b-afc6-59484cfedc35"/>
    <ds:schemaRef ds:uri="http://schemas.microsoft.com/office/infopath/2007/PartnerControls"/>
    <ds:schemaRef ds:uri="http://schemas.microsoft.com/office/2006/metadata/properties"/>
    <ds:schemaRef ds:uri="http://purl.org/dc/terms/"/>
    <ds:schemaRef ds:uri="http://schemas.openxmlformats.org/package/2006/metadata/core-properties"/>
    <ds:schemaRef ds:uri="3ff68e1f-d7e3-4b4f-a3e0-07f53f4abd0b"/>
    <ds:schemaRef ds:uri="71c5aaf6-e6ce-465b-b873-5148d2a4c105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754B614-0EE5-4849-A952-FF48518251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c5aaf6-e6ce-465b-b873-5148d2a4c1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1ED0101-BE9F-46DB-987E-8459A7D6EDB5}">
  <ds:schemaRefs>
    <ds:schemaRef ds:uri="http://schemas.microsoft.com/office/2006/metadata/customXsn"/>
  </ds:schemaRefs>
</ds:datastoreItem>
</file>

<file path=customXml/itemProps4.xml><?xml version="1.0" encoding="utf-8"?>
<ds:datastoreItem xmlns:ds="http://schemas.openxmlformats.org/officeDocument/2006/customXml" ds:itemID="{15D1594D-7A94-491C-83DE-04CC487213FF}">
  <ds:schemaRefs>
    <ds:schemaRef ds:uri="http://schemas.microsoft.com/sharepoint/events"/>
  </ds:schemaRefs>
</ds:datastoreItem>
</file>

<file path=customXml/itemProps5.xml><?xml version="1.0" encoding="utf-8"?>
<ds:datastoreItem xmlns:ds="http://schemas.openxmlformats.org/officeDocument/2006/customXml" ds:itemID="{730DE6F5-D5F8-4818-BA72-666E105DC0CE}">
  <ds:schemaRefs>
    <ds:schemaRef ds:uri="Microsoft.SharePoint.Taxonomy.ContentTypeSync"/>
  </ds:schemaRefs>
</ds:datastoreItem>
</file>

<file path=customXml/itemProps6.xml><?xml version="1.0" encoding="utf-8"?>
<ds:datastoreItem xmlns:ds="http://schemas.openxmlformats.org/officeDocument/2006/customXml" ds:itemID="{9DED2D23-3C7F-41E8-ACA8-DA482829100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RS21015_Nokia Pure PowerPoint</Template>
  <TotalTime>4347</TotalTime>
  <Words>1630</Words>
  <Application>Microsoft Office PowerPoint</Application>
  <PresentationFormat>On-screen Show (16:9)</PresentationFormat>
  <Paragraphs>282</Paragraphs>
  <Slides>22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8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44" baseType="lpstr">
      <vt:lpstr>Adobe 宋体 Std L</vt:lpstr>
      <vt:lpstr>Lucida Grande</vt:lpstr>
      <vt:lpstr>等线</vt:lpstr>
      <vt:lpstr>Arial</vt:lpstr>
      <vt:lpstr>Calibri</vt:lpstr>
      <vt:lpstr>Nokia Pure Headline Light</vt:lpstr>
      <vt:lpstr>Nokia Pure Headline Ultra Light</vt:lpstr>
      <vt:lpstr>Nokia Pure Text</vt:lpstr>
      <vt:lpstr>Nokia Pure Text Light</vt:lpstr>
      <vt:lpstr>Times New Roman</vt:lpstr>
      <vt:lpstr>Trebuchet MS</vt:lpstr>
      <vt:lpstr>Wingdings</vt:lpstr>
      <vt:lpstr>1 White Master</vt:lpstr>
      <vt:lpstr>1_c 2018 Nokia</vt:lpstr>
      <vt:lpstr>3_Blue</vt:lpstr>
      <vt:lpstr>4_Blue End Slide</vt:lpstr>
      <vt:lpstr>5_White End Slide</vt:lpstr>
      <vt:lpstr>6_Gray</vt:lpstr>
      <vt:lpstr>1_Nokia_Pure_PPT_CORP_V2</vt:lpstr>
      <vt:lpstr>4_1 White Master</vt:lpstr>
      <vt:lpstr>think-cell Slide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Keppo, Anu (Nokia - FI/Espoo)</dc:creator>
  <cp:lastModifiedBy>Hong Wei HL. Liu (NSB)</cp:lastModifiedBy>
  <cp:revision>271</cp:revision>
  <cp:lastPrinted>2020-06-10T11:40:53Z</cp:lastPrinted>
  <dcterms:created xsi:type="dcterms:W3CDTF">2019-11-12T08:38:28Z</dcterms:created>
  <dcterms:modified xsi:type="dcterms:W3CDTF">2023-02-24T02:47:11Z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0x010100CE50E52E7543470BBDD3827FE50C59CB001049700F2E50E943A3536B3836016048</vt:lpwstr>
  </property>
  <property fmtid="{D5CDD505-2E9C-101B-9397-08002B2CF9AE}" pid="3" name="_dlc_DocIdItemGuid">
    <vt:lpwstr>cf1d3d7e-8ada-4963-9b32-725e3723c9d7</vt:lpwstr>
  </property>
  <property fmtid="{D5CDD505-2E9C-101B-9397-08002B2CF9AE}" pid="4" name="SharedWithUsers">
    <vt:lpwstr>30470;#Mion, Marcello (Nokia - IT/Vimercate);#21237;#Greijula, Sirkku (Nokia - FI/Tampere);#22035;#Gupta, Uvnik (Nokia - IN/Bangalore);#12061;#Che Haron, Firdaus (Nokia - MY/Kuala Lumpur);#2894;#Martins Joao Cruz, Catarina (Nokia - DE/Munich);#10416;#Gero</vt:lpwstr>
  </property>
</Properties>
</file>